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2133"/>
            <a:ext cx="12187301" cy="48110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3175"/>
            <a:ext cx="12192000" cy="504825"/>
          </a:xfrm>
          <a:custGeom>
            <a:avLst/>
            <a:gdLst/>
            <a:ahLst/>
            <a:cxnLst/>
            <a:rect l="l" t="t" r="r" b="b"/>
            <a:pathLst>
              <a:path w="12192000" h="504825">
                <a:moveTo>
                  <a:pt x="12192000" y="0"/>
                </a:moveTo>
                <a:lnTo>
                  <a:pt x="0" y="0"/>
                </a:lnTo>
                <a:lnTo>
                  <a:pt x="0" y="504825"/>
                </a:lnTo>
                <a:lnTo>
                  <a:pt x="12192000" y="504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21285"/>
            <a:ext cx="8103234" cy="998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975" y="2560891"/>
            <a:ext cx="9235440" cy="1736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31384" y="6472554"/>
            <a:ext cx="20491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6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82629" y="6472554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66774382_Artificial_Intelligence-Enabled_Chatbots_in_Mental_Health_A_Systematic_Review?utm_source=chatgpt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10920" y="1511800"/>
            <a:ext cx="3352800" cy="4222423"/>
            <a:chOff x="5657818" y="847725"/>
            <a:chExt cx="4638675" cy="5162550"/>
          </a:xfrm>
        </p:grpSpPr>
        <p:sp>
          <p:nvSpPr>
            <p:cNvPr id="3" name="object 3"/>
            <p:cNvSpPr/>
            <p:nvPr/>
          </p:nvSpPr>
          <p:spPr>
            <a:xfrm>
              <a:off x="5657818" y="847725"/>
              <a:ext cx="4638675" cy="5162550"/>
            </a:xfrm>
            <a:custGeom>
              <a:avLst/>
              <a:gdLst/>
              <a:ahLst/>
              <a:cxnLst/>
              <a:rect l="l" t="t" r="r" b="b"/>
              <a:pathLst>
                <a:path w="4638675" h="5162550">
                  <a:moveTo>
                    <a:pt x="1873281" y="0"/>
                  </a:moveTo>
                  <a:lnTo>
                    <a:pt x="1179988" y="0"/>
                  </a:lnTo>
                  <a:lnTo>
                    <a:pt x="1147335" y="5790"/>
                  </a:lnTo>
                  <a:lnTo>
                    <a:pt x="1092174" y="48756"/>
                  </a:lnTo>
                  <a:lnTo>
                    <a:pt x="1072165" y="83692"/>
                  </a:lnTo>
                  <a:lnTo>
                    <a:pt x="726344" y="882523"/>
                  </a:lnTo>
                  <a:lnTo>
                    <a:pt x="713700" y="922043"/>
                  </a:lnTo>
                  <a:lnTo>
                    <a:pt x="709485" y="964184"/>
                  </a:lnTo>
                  <a:lnTo>
                    <a:pt x="713700" y="1006324"/>
                  </a:lnTo>
                  <a:lnTo>
                    <a:pt x="726344" y="1045845"/>
                  </a:lnTo>
                  <a:lnTo>
                    <a:pt x="1072165" y="1844675"/>
                  </a:lnTo>
                  <a:lnTo>
                    <a:pt x="1092184" y="1879615"/>
                  </a:lnTo>
                  <a:lnTo>
                    <a:pt x="1118520" y="1906397"/>
                  </a:lnTo>
                  <a:lnTo>
                    <a:pt x="1092866" y="1965960"/>
                  </a:lnTo>
                  <a:lnTo>
                    <a:pt x="786923" y="2672207"/>
                  </a:lnTo>
                  <a:lnTo>
                    <a:pt x="769379" y="2718113"/>
                  </a:lnTo>
                  <a:lnTo>
                    <a:pt x="756848" y="2766349"/>
                  </a:lnTo>
                  <a:lnTo>
                    <a:pt x="749329" y="2816140"/>
                  </a:lnTo>
                  <a:lnTo>
                    <a:pt x="746823" y="2866707"/>
                  </a:lnTo>
                  <a:lnTo>
                    <a:pt x="749329" y="2917274"/>
                  </a:lnTo>
                  <a:lnTo>
                    <a:pt x="756848" y="2967065"/>
                  </a:lnTo>
                  <a:lnTo>
                    <a:pt x="769379" y="3015301"/>
                  </a:lnTo>
                  <a:lnTo>
                    <a:pt x="786923" y="3061207"/>
                  </a:lnTo>
                  <a:lnTo>
                    <a:pt x="1610645" y="4963325"/>
                  </a:lnTo>
                  <a:lnTo>
                    <a:pt x="1636086" y="5013193"/>
                  </a:lnTo>
                  <a:lnTo>
                    <a:pt x="1666206" y="5056755"/>
                  </a:lnTo>
                  <a:lnTo>
                    <a:pt x="1700442" y="5093514"/>
                  </a:lnTo>
                  <a:lnTo>
                    <a:pt x="1738233" y="5122970"/>
                  </a:lnTo>
                  <a:lnTo>
                    <a:pt x="1779017" y="5144627"/>
                  </a:lnTo>
                  <a:lnTo>
                    <a:pt x="1822230" y="5157986"/>
                  </a:lnTo>
                  <a:lnTo>
                    <a:pt x="1867312" y="5162550"/>
                  </a:lnTo>
                  <a:lnTo>
                    <a:pt x="3518185" y="5162550"/>
                  </a:lnTo>
                  <a:lnTo>
                    <a:pt x="3562144" y="5157986"/>
                  </a:lnTo>
                  <a:lnTo>
                    <a:pt x="3604868" y="5144627"/>
                  </a:lnTo>
                  <a:lnTo>
                    <a:pt x="3645541" y="5122970"/>
                  </a:lnTo>
                  <a:lnTo>
                    <a:pt x="3683349" y="5093514"/>
                  </a:lnTo>
                  <a:lnTo>
                    <a:pt x="3717475" y="5056755"/>
                  </a:lnTo>
                  <a:lnTo>
                    <a:pt x="3747105" y="5013193"/>
                  </a:lnTo>
                  <a:lnTo>
                    <a:pt x="3771423" y="4963325"/>
                  </a:lnTo>
                  <a:lnTo>
                    <a:pt x="4598574" y="3061208"/>
                  </a:lnTo>
                  <a:lnTo>
                    <a:pt x="4616118" y="3015301"/>
                  </a:lnTo>
                  <a:lnTo>
                    <a:pt x="4628649" y="2967065"/>
                  </a:lnTo>
                  <a:lnTo>
                    <a:pt x="4636168" y="2917274"/>
                  </a:lnTo>
                  <a:lnTo>
                    <a:pt x="4638674" y="2866707"/>
                  </a:lnTo>
                  <a:lnTo>
                    <a:pt x="4636168" y="2816140"/>
                  </a:lnTo>
                  <a:lnTo>
                    <a:pt x="4628649" y="2766349"/>
                  </a:lnTo>
                  <a:lnTo>
                    <a:pt x="4616118" y="2718113"/>
                  </a:lnTo>
                  <a:lnTo>
                    <a:pt x="4598574" y="2672207"/>
                  </a:lnTo>
                  <a:lnTo>
                    <a:pt x="4271016" y="1918970"/>
                  </a:lnTo>
                  <a:lnTo>
                    <a:pt x="1177067" y="1918970"/>
                  </a:lnTo>
                  <a:lnTo>
                    <a:pt x="1168717" y="1918594"/>
                  </a:lnTo>
                  <a:lnTo>
                    <a:pt x="1160462" y="1917493"/>
                  </a:lnTo>
                  <a:lnTo>
                    <a:pt x="1152350" y="1915701"/>
                  </a:lnTo>
                  <a:lnTo>
                    <a:pt x="1144428" y="1913254"/>
                  </a:lnTo>
                  <a:lnTo>
                    <a:pt x="1125124" y="1902460"/>
                  </a:lnTo>
                  <a:lnTo>
                    <a:pt x="1143793" y="1859407"/>
                  </a:lnTo>
                  <a:lnTo>
                    <a:pt x="1168685" y="1801622"/>
                  </a:lnTo>
                  <a:lnTo>
                    <a:pt x="1131949" y="1761112"/>
                  </a:lnTo>
                  <a:lnTo>
                    <a:pt x="817149" y="1036574"/>
                  </a:lnTo>
                  <a:lnTo>
                    <a:pt x="802200" y="964184"/>
                  </a:lnTo>
                  <a:lnTo>
                    <a:pt x="805934" y="926792"/>
                  </a:lnTo>
                  <a:lnTo>
                    <a:pt x="1123727" y="183641"/>
                  </a:lnTo>
                  <a:lnTo>
                    <a:pt x="1164066" y="129254"/>
                  </a:lnTo>
                  <a:lnTo>
                    <a:pt x="1219358" y="109347"/>
                  </a:lnTo>
                  <a:lnTo>
                    <a:pt x="1990742" y="109347"/>
                  </a:lnTo>
                  <a:lnTo>
                    <a:pt x="1979580" y="83692"/>
                  </a:lnTo>
                  <a:lnTo>
                    <a:pt x="1960239" y="48756"/>
                  </a:lnTo>
                  <a:lnTo>
                    <a:pt x="1934860" y="22415"/>
                  </a:lnTo>
                  <a:lnTo>
                    <a:pt x="1905267" y="5790"/>
                  </a:lnTo>
                  <a:lnTo>
                    <a:pt x="1873281" y="0"/>
                  </a:lnTo>
                  <a:close/>
                </a:path>
                <a:path w="4638675" h="5162550">
                  <a:moveTo>
                    <a:pt x="673766" y="3129788"/>
                  </a:moveTo>
                  <a:lnTo>
                    <a:pt x="272446" y="3129788"/>
                  </a:lnTo>
                  <a:lnTo>
                    <a:pt x="253539" y="3133133"/>
                  </a:lnTo>
                  <a:lnTo>
                    <a:pt x="221583" y="3157970"/>
                  </a:lnTo>
                  <a:lnTo>
                    <a:pt x="9810" y="3640581"/>
                  </a:lnTo>
                  <a:lnTo>
                    <a:pt x="0" y="3687889"/>
                  </a:lnTo>
                  <a:lnTo>
                    <a:pt x="2452" y="3712305"/>
                  </a:lnTo>
                  <a:lnTo>
                    <a:pt x="209962" y="4197604"/>
                  </a:lnTo>
                  <a:lnTo>
                    <a:pt x="236347" y="4233037"/>
                  </a:lnTo>
                  <a:lnTo>
                    <a:pt x="272446" y="4245991"/>
                  </a:lnTo>
                  <a:lnTo>
                    <a:pt x="673766" y="4245991"/>
                  </a:lnTo>
                  <a:lnTo>
                    <a:pt x="724076" y="4217808"/>
                  </a:lnTo>
                  <a:lnTo>
                    <a:pt x="936402" y="3735197"/>
                  </a:lnTo>
                  <a:lnTo>
                    <a:pt x="946118" y="3687889"/>
                  </a:lnTo>
                  <a:lnTo>
                    <a:pt x="943689" y="3663473"/>
                  </a:lnTo>
                  <a:lnTo>
                    <a:pt x="735234" y="3178175"/>
                  </a:lnTo>
                  <a:lnTo>
                    <a:pt x="709406" y="3142742"/>
                  </a:lnTo>
                  <a:lnTo>
                    <a:pt x="673766" y="3129788"/>
                  </a:lnTo>
                  <a:close/>
                </a:path>
                <a:path w="4638675" h="5162550">
                  <a:moveTo>
                    <a:pt x="3518185" y="570864"/>
                  </a:moveTo>
                  <a:lnTo>
                    <a:pt x="2192686" y="570864"/>
                  </a:lnTo>
                  <a:lnTo>
                    <a:pt x="2324131" y="873125"/>
                  </a:lnTo>
                  <a:lnTo>
                    <a:pt x="2336776" y="912645"/>
                  </a:lnTo>
                  <a:lnTo>
                    <a:pt x="2340986" y="954833"/>
                  </a:lnTo>
                  <a:lnTo>
                    <a:pt x="2336776" y="996926"/>
                  </a:lnTo>
                  <a:lnTo>
                    <a:pt x="2324076" y="1036574"/>
                  </a:lnTo>
                  <a:lnTo>
                    <a:pt x="1976659" y="1835277"/>
                  </a:lnTo>
                  <a:lnTo>
                    <a:pt x="1957318" y="1870213"/>
                  </a:lnTo>
                  <a:lnTo>
                    <a:pt x="1931939" y="1896554"/>
                  </a:lnTo>
                  <a:lnTo>
                    <a:pt x="1902212" y="1913254"/>
                  </a:lnTo>
                  <a:lnTo>
                    <a:pt x="1901930" y="1913254"/>
                  </a:lnTo>
                  <a:lnTo>
                    <a:pt x="1870360" y="1918970"/>
                  </a:lnTo>
                  <a:lnTo>
                    <a:pt x="4271016" y="1918970"/>
                  </a:lnTo>
                  <a:lnTo>
                    <a:pt x="3771423" y="770127"/>
                  </a:lnTo>
                  <a:lnTo>
                    <a:pt x="3747105" y="720261"/>
                  </a:lnTo>
                  <a:lnTo>
                    <a:pt x="3717475" y="676695"/>
                  </a:lnTo>
                  <a:lnTo>
                    <a:pt x="3683349" y="639929"/>
                  </a:lnTo>
                  <a:lnTo>
                    <a:pt x="3645541" y="610463"/>
                  </a:lnTo>
                  <a:lnTo>
                    <a:pt x="3604868" y="588797"/>
                  </a:lnTo>
                  <a:lnTo>
                    <a:pt x="3562144" y="575431"/>
                  </a:lnTo>
                  <a:lnTo>
                    <a:pt x="3518185" y="570864"/>
                  </a:lnTo>
                  <a:close/>
                </a:path>
                <a:path w="4638675" h="5162550">
                  <a:moveTo>
                    <a:pt x="2097817" y="570864"/>
                  </a:moveTo>
                  <a:lnTo>
                    <a:pt x="1867312" y="570864"/>
                  </a:lnTo>
                  <a:lnTo>
                    <a:pt x="1822230" y="575431"/>
                  </a:lnTo>
                  <a:lnTo>
                    <a:pt x="1779017" y="588797"/>
                  </a:lnTo>
                  <a:lnTo>
                    <a:pt x="1738233" y="610463"/>
                  </a:lnTo>
                  <a:lnTo>
                    <a:pt x="1700442" y="639929"/>
                  </a:lnTo>
                  <a:lnTo>
                    <a:pt x="1666206" y="676695"/>
                  </a:lnTo>
                  <a:lnTo>
                    <a:pt x="1636086" y="720261"/>
                  </a:lnTo>
                  <a:lnTo>
                    <a:pt x="1610645" y="770127"/>
                  </a:lnTo>
                  <a:lnTo>
                    <a:pt x="1167542" y="1793366"/>
                  </a:lnTo>
                  <a:lnTo>
                    <a:pt x="1187685" y="1804481"/>
                  </a:lnTo>
                  <a:lnTo>
                    <a:pt x="1194506" y="1806676"/>
                  </a:lnTo>
                  <a:lnTo>
                    <a:pt x="1201674" y="1808305"/>
                  </a:lnTo>
                  <a:lnTo>
                    <a:pt x="1208984" y="1809291"/>
                  </a:lnTo>
                  <a:lnTo>
                    <a:pt x="1216437" y="1809623"/>
                  </a:lnTo>
                  <a:lnTo>
                    <a:pt x="1830990" y="1809623"/>
                  </a:lnTo>
                  <a:lnTo>
                    <a:pt x="1885584" y="1789731"/>
                  </a:lnTo>
                  <a:lnTo>
                    <a:pt x="1925224" y="1735454"/>
                  </a:lnTo>
                  <a:lnTo>
                    <a:pt x="2233326" y="1027176"/>
                  </a:lnTo>
                  <a:lnTo>
                    <a:pt x="2248185" y="954833"/>
                  </a:lnTo>
                  <a:lnTo>
                    <a:pt x="2244470" y="917465"/>
                  </a:lnTo>
                  <a:lnTo>
                    <a:pt x="2233367" y="882523"/>
                  </a:lnTo>
                  <a:lnTo>
                    <a:pt x="2097817" y="570864"/>
                  </a:lnTo>
                  <a:close/>
                </a:path>
                <a:path w="4638675" h="5162550">
                  <a:moveTo>
                    <a:pt x="1990742" y="109347"/>
                  </a:moveTo>
                  <a:lnTo>
                    <a:pt x="1833911" y="109347"/>
                  </a:lnTo>
                  <a:lnTo>
                    <a:pt x="1862318" y="114490"/>
                  </a:lnTo>
                  <a:lnTo>
                    <a:pt x="1888569" y="129254"/>
                  </a:lnTo>
                  <a:lnTo>
                    <a:pt x="1911082" y="152638"/>
                  </a:lnTo>
                  <a:lnTo>
                    <a:pt x="1928272" y="183641"/>
                  </a:lnTo>
                  <a:lnTo>
                    <a:pt x="2092102" y="560577"/>
                  </a:lnTo>
                  <a:lnTo>
                    <a:pt x="2186971" y="560577"/>
                  </a:lnTo>
                  <a:lnTo>
                    <a:pt x="2166016" y="512190"/>
                  </a:lnTo>
                  <a:lnTo>
                    <a:pt x="1990742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1714500"/>
              <a:ext cx="3200400" cy="3429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85" dirty="0">
                <a:solidFill>
                  <a:srgbClr val="1F487C"/>
                </a:solidFill>
              </a:rPr>
              <a:t>SMART</a:t>
            </a:r>
            <a:r>
              <a:rPr sz="3950" spc="85" dirty="0">
                <a:solidFill>
                  <a:srgbClr val="1F487C"/>
                </a:solidFill>
              </a:rPr>
              <a:t> </a:t>
            </a:r>
            <a:r>
              <a:rPr sz="3950" spc="120" dirty="0">
                <a:solidFill>
                  <a:srgbClr val="1F487C"/>
                </a:solidFill>
              </a:rPr>
              <a:t>INDIA</a:t>
            </a:r>
            <a:r>
              <a:rPr sz="3950" spc="65" dirty="0">
                <a:solidFill>
                  <a:srgbClr val="1F487C"/>
                </a:solidFill>
              </a:rPr>
              <a:t> </a:t>
            </a:r>
            <a:r>
              <a:rPr sz="3950" dirty="0">
                <a:solidFill>
                  <a:srgbClr val="1F487C"/>
                </a:solidFill>
              </a:rPr>
              <a:t>HACKATHON</a:t>
            </a:r>
            <a:r>
              <a:rPr sz="3950" spc="75" dirty="0">
                <a:solidFill>
                  <a:srgbClr val="1F487C"/>
                </a:solidFill>
              </a:rPr>
              <a:t> </a:t>
            </a:r>
            <a:r>
              <a:rPr sz="3950" spc="-20" dirty="0">
                <a:solidFill>
                  <a:srgbClr val="1F487C"/>
                </a:solidFill>
              </a:rPr>
              <a:t>2025</a:t>
            </a:r>
            <a:endParaRPr sz="395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914400"/>
            <a:ext cx="8382000" cy="5822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8366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6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dirty="0">
                <a:latin typeface="Georgia" panose="02040502050405020303" pitchFamily="18" charset="0"/>
                <a:cs typeface="Arial"/>
              </a:rPr>
              <a:t>Problem</a:t>
            </a:r>
            <a:r>
              <a:rPr sz="2400" b="1" spc="-7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Statement</a:t>
            </a:r>
            <a:r>
              <a:rPr sz="2400" b="1" spc="-2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ID</a:t>
            </a:r>
            <a:r>
              <a:rPr sz="2400" b="1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spc="-50" dirty="0">
                <a:latin typeface="Georgia" panose="02040502050405020303" pitchFamily="18" charset="0"/>
                <a:cs typeface="Arial"/>
              </a:rPr>
              <a:t>–</a:t>
            </a:r>
            <a:r>
              <a:rPr lang="en-US" sz="2800" b="1" spc="-50" dirty="0">
                <a:solidFill>
                  <a:schemeClr val="tx2"/>
                </a:solidFill>
                <a:latin typeface="+mj-lt"/>
                <a:cs typeface="Arial"/>
              </a:rPr>
              <a:t>25092</a:t>
            </a:r>
            <a:endParaRPr sz="2800" b="1" dirty="0">
              <a:solidFill>
                <a:schemeClr val="tx2"/>
              </a:solidFill>
              <a:latin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 b="1" dirty="0">
              <a:latin typeface="Georgia" panose="02040502050405020303" pitchFamily="18" charset="0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dirty="0">
                <a:latin typeface="Georgia" panose="02040502050405020303" pitchFamily="18" charset="0"/>
                <a:cs typeface="Arial"/>
              </a:rPr>
              <a:t>Problem</a:t>
            </a:r>
            <a:r>
              <a:rPr sz="2400" b="1" spc="-9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Statement</a:t>
            </a:r>
            <a:r>
              <a:rPr sz="2400" b="1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spc="-10" dirty="0">
                <a:latin typeface="Georgia" panose="02040502050405020303" pitchFamily="18" charset="0"/>
                <a:cs typeface="Arial"/>
              </a:rPr>
              <a:t>Title-</a:t>
            </a:r>
            <a:r>
              <a:rPr lang="en-US" sz="2400" b="1" spc="-10" dirty="0">
                <a:solidFill>
                  <a:schemeClr val="tx2"/>
                </a:solidFill>
                <a:latin typeface="Georgia" panose="02040502050405020303" pitchFamily="18" charset="0"/>
                <a:cs typeface="Arial"/>
              </a:rPr>
              <a:t>Healhub-</a:t>
            </a:r>
            <a:endParaRPr sz="2400" b="1" dirty="0">
              <a:solidFill>
                <a:schemeClr val="tx2"/>
              </a:solidFill>
              <a:latin typeface="Georgia" panose="02040502050405020303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400" b="1" dirty="0">
              <a:latin typeface="Georgia" panose="02040502050405020303" pitchFamily="18" charset="0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spc="-10" dirty="0">
                <a:latin typeface="Georgia" panose="02040502050405020303" pitchFamily="18" charset="0"/>
                <a:cs typeface="Arial"/>
              </a:rPr>
              <a:t>Theme-</a:t>
            </a:r>
            <a:r>
              <a:rPr lang="en-US" sz="2400" b="1" spc="-10" dirty="0">
                <a:solidFill>
                  <a:schemeClr val="tx2"/>
                </a:solidFill>
                <a:latin typeface="Georgia" panose="02040502050405020303" pitchFamily="18" charset="0"/>
                <a:cs typeface="Arial"/>
              </a:rPr>
              <a:t>HealthTech</a:t>
            </a:r>
            <a:endParaRPr sz="2400" b="1" dirty="0">
              <a:solidFill>
                <a:schemeClr val="tx2"/>
              </a:solidFill>
              <a:latin typeface="Georgia" panose="02040502050405020303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 b="1" dirty="0">
              <a:latin typeface="Georgia" panose="02040502050405020303" pitchFamily="18" charset="0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dirty="0">
                <a:latin typeface="Georgia" panose="02040502050405020303" pitchFamily="18" charset="0"/>
                <a:cs typeface="Arial"/>
              </a:rPr>
              <a:t>PS</a:t>
            </a:r>
            <a:r>
              <a:rPr sz="2400" b="1" spc="-2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Category-</a:t>
            </a:r>
            <a:r>
              <a:rPr lang="en-US" sz="2400" b="1" dirty="0">
                <a:solidFill>
                  <a:schemeClr val="tx2"/>
                </a:solidFill>
                <a:latin typeface="Georgia" panose="02040502050405020303" pitchFamily="18" charset="0"/>
                <a:cs typeface="Arial"/>
              </a:rPr>
              <a:t>Software</a:t>
            </a:r>
            <a:endParaRPr sz="2400" b="1" dirty="0">
              <a:solidFill>
                <a:schemeClr val="tx2"/>
              </a:solidFill>
              <a:latin typeface="Georgia" panose="02040502050405020303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 b="1" dirty="0">
              <a:latin typeface="Georgia" panose="02040502050405020303" pitchFamily="18" charset="0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spc="-25" dirty="0">
                <a:latin typeface="Georgia" panose="02040502050405020303" pitchFamily="18" charset="0"/>
                <a:cs typeface="Arial"/>
              </a:rPr>
              <a:t>Team</a:t>
            </a:r>
            <a:r>
              <a:rPr sz="2400" b="1" spc="-140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spc="-25" dirty="0">
                <a:latin typeface="Georgia" panose="02040502050405020303" pitchFamily="18" charset="0"/>
                <a:cs typeface="Arial"/>
              </a:rPr>
              <a:t>ID-</a:t>
            </a:r>
            <a:r>
              <a:rPr lang="en-US" sz="2400" b="1" spc="-25" dirty="0">
                <a:solidFill>
                  <a:schemeClr val="tx2"/>
                </a:solidFill>
                <a:latin typeface="+mj-lt"/>
                <a:cs typeface="Arial"/>
              </a:rPr>
              <a:t>188</a:t>
            </a:r>
            <a:endParaRPr sz="2400" b="1" dirty="0">
              <a:solidFill>
                <a:schemeClr val="tx2"/>
              </a:solidFill>
              <a:latin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z="2400" b="1" dirty="0">
              <a:latin typeface="Georgia" panose="02040502050405020303" pitchFamily="18" charset="0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b="1" spc="-25" dirty="0">
                <a:latin typeface="Georgia" panose="02040502050405020303" pitchFamily="18" charset="0"/>
                <a:cs typeface="Arial"/>
              </a:rPr>
              <a:t>Team</a:t>
            </a:r>
            <a:r>
              <a:rPr sz="2400" b="1" spc="-70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Name</a:t>
            </a:r>
            <a:r>
              <a:rPr sz="2400" b="1" spc="-8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(Registered</a:t>
            </a:r>
            <a:r>
              <a:rPr sz="2400" b="1" spc="-7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dirty="0">
                <a:latin typeface="Georgia" panose="02040502050405020303" pitchFamily="18" charset="0"/>
                <a:cs typeface="Arial"/>
              </a:rPr>
              <a:t>on</a:t>
            </a:r>
            <a:r>
              <a:rPr sz="2400" b="1" spc="-95" dirty="0">
                <a:latin typeface="Georgia" panose="02040502050405020303" pitchFamily="18" charset="0"/>
                <a:cs typeface="Arial"/>
              </a:rPr>
              <a:t> </a:t>
            </a:r>
            <a:r>
              <a:rPr sz="2400" b="1" spc="-10" dirty="0">
                <a:latin typeface="Georgia" panose="02040502050405020303" pitchFamily="18" charset="0"/>
                <a:cs typeface="Arial"/>
              </a:rPr>
              <a:t>portal)</a:t>
            </a:r>
            <a:r>
              <a:rPr lang="en-US" sz="2400" b="1" spc="-10" dirty="0">
                <a:latin typeface="Georgia" panose="02040502050405020303" pitchFamily="18" charset="0"/>
                <a:cs typeface="Arial"/>
              </a:rPr>
              <a:t>-</a:t>
            </a:r>
            <a:r>
              <a:rPr lang="en-US" sz="2400" b="1" spc="-10" dirty="0">
                <a:solidFill>
                  <a:schemeClr val="tx2"/>
                </a:solidFill>
                <a:latin typeface="Georgia" panose="02040502050405020303" pitchFamily="18" charset="0"/>
                <a:cs typeface="Arial"/>
              </a:rPr>
              <a:t>VertexWave</a:t>
            </a:r>
            <a:endParaRPr sz="2400" b="1" dirty="0">
              <a:solidFill>
                <a:schemeClr val="tx2"/>
              </a:solidFill>
              <a:latin typeface="Georgia" panose="02040502050405020303" pitchFamily="18" charset="0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1292" y="-30637"/>
            <a:ext cx="2209800" cy="1123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57EB9B-2599-21B7-5FB2-514072813F6A}"/>
              </a:ext>
            </a:extLst>
          </p:cNvPr>
          <p:cNvSpPr txBox="1"/>
          <p:nvPr/>
        </p:nvSpPr>
        <p:spPr>
          <a:xfrm>
            <a:off x="6157946" y="2976681"/>
            <a:ext cx="341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spc="-10" dirty="0">
                <a:solidFill>
                  <a:schemeClr val="tx2"/>
                </a:solidFill>
                <a:latin typeface="Georgia" panose="02040502050405020303" pitchFamily="18" charset="0"/>
                <a:cs typeface="Arial"/>
              </a:rPr>
              <a:t>“Blending technology with care for student wellbeing”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-390768"/>
            <a:ext cx="7453947" cy="1425389"/>
          </a:xfrm>
          <a:prstGeom prst="rect">
            <a:avLst/>
          </a:prstGeom>
        </p:spPr>
        <p:txBody>
          <a:bodyPr vert="horz" wrap="square" lIns="0" tIns="436244" rIns="0" bIns="0" rtlCol="0">
            <a:spAutoFit/>
          </a:bodyPr>
          <a:lstStyle/>
          <a:p>
            <a:pPr marL="2891155">
              <a:spcBef>
                <a:spcPts val="105"/>
              </a:spcBef>
            </a:pPr>
            <a:r>
              <a:rPr lang="en-US" sz="3200" dirty="0">
                <a:latin typeface="Georgia" panose="02040502050405020303" pitchFamily="18" charset="0"/>
              </a:rPr>
              <a:t>Proposed Solution</a:t>
            </a:r>
            <a:br>
              <a:rPr lang="en-US" sz="3200" dirty="0">
                <a:latin typeface="Georgia" panose="02040502050405020303" pitchFamily="18" charset="0"/>
              </a:rPr>
            </a:br>
            <a:endParaRPr sz="3200" spc="-10" dirty="0"/>
          </a:p>
        </p:txBody>
      </p:sp>
      <p:sp>
        <p:nvSpPr>
          <p:cNvPr id="4" name="object 4"/>
          <p:cNvSpPr/>
          <p:nvPr/>
        </p:nvSpPr>
        <p:spPr>
          <a:xfrm>
            <a:off x="76200" y="112751"/>
            <a:ext cx="1813906" cy="574260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3253" y="112750"/>
            <a:ext cx="1219200" cy="5742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pc="-20" dirty="0">
                <a:latin typeface="Calibri"/>
                <a:cs typeface="Calibri"/>
              </a:rPr>
              <a:t>Vertex     </a:t>
            </a:r>
          </a:p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z="1800" spc="-20" dirty="0">
                <a:latin typeface="Calibri"/>
                <a:cs typeface="Calibri"/>
              </a:rPr>
              <a:t> Wave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1092" y="1"/>
            <a:ext cx="1822192" cy="799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F30798-F005-ADD4-B2AC-7587FDA99E25}"/>
              </a:ext>
            </a:extLst>
          </p:cNvPr>
          <p:cNvSpPr txBox="1"/>
          <p:nvPr/>
        </p:nvSpPr>
        <p:spPr>
          <a:xfrm>
            <a:off x="158587" y="780544"/>
            <a:ext cx="62483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Login/Signup &amp; Personalization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Secure access with a personalized experience.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Diary Entry with Sentiment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Daily reflections, harmful sentiment detection, and weekly mood analysis with insights.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Emotion slider to log and track long-term emotional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&amp;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→Book your appointment with mentors and have counselling sessions for self-improvement.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24/7 guidance and instant feedback.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Streak Tracker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Encourages consistency in self-care activities.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Hub &amp; Quick Addiction 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Stress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relief through ambient sounds and games, plus fast self-assessment with instant feedback.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9998C7-AF4F-1E8C-E8B0-3D25CD9DE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687010"/>
            <a:ext cx="6858000" cy="4800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504A9C8-FF7B-10D4-86AB-E2FEAE0EC6F9}"/>
              </a:ext>
            </a:extLst>
          </p:cNvPr>
          <p:cNvSpPr/>
          <p:nvPr/>
        </p:nvSpPr>
        <p:spPr>
          <a:xfrm>
            <a:off x="5908593" y="5177672"/>
            <a:ext cx="10668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06B88-5EFE-E616-5D81-C44DF6E258BA}"/>
              </a:ext>
            </a:extLst>
          </p:cNvPr>
          <p:cNvSpPr/>
          <p:nvPr/>
        </p:nvSpPr>
        <p:spPr>
          <a:xfrm>
            <a:off x="6477000" y="5029200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779" y="0"/>
            <a:ext cx="8103234" cy="998219"/>
          </a:xfrm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916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TECHNICAL</a:t>
            </a:r>
            <a:r>
              <a:rPr spc="-4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7186" y="118234"/>
            <a:ext cx="914400" cy="866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pc="-20" dirty="0">
                <a:latin typeface="Calibri"/>
                <a:cs typeface="Calibri"/>
              </a:rPr>
              <a:t>Vertex    </a:t>
            </a:r>
          </a:p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z="1800" spc="-20" dirty="0">
                <a:latin typeface="Calibri"/>
                <a:cs typeface="Calibri"/>
              </a:rPr>
              <a:t> Wave</a:t>
            </a:r>
          </a:p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800" y="118234"/>
            <a:ext cx="1813906" cy="71996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FE026-FF7F-E67E-D31E-1F9B80B5A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-290513"/>
            <a:ext cx="12481906" cy="51530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AC70E7-6F19-A905-0808-C41E18F03481}"/>
              </a:ext>
            </a:extLst>
          </p:cNvPr>
          <p:cNvSpPr/>
          <p:nvPr/>
        </p:nvSpPr>
        <p:spPr>
          <a:xfrm>
            <a:off x="10363200" y="4572000"/>
            <a:ext cx="1600200" cy="17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8BF1025-9288-5AFC-B6A0-CD29F090F2D0}"/>
              </a:ext>
            </a:extLst>
          </p:cNvPr>
          <p:cNvSpPr/>
          <p:nvPr/>
        </p:nvSpPr>
        <p:spPr>
          <a:xfrm>
            <a:off x="202718" y="52058"/>
            <a:ext cx="1830529" cy="691942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E2190A-92D3-A5C1-D212-5780CDA82E02}"/>
              </a:ext>
            </a:extLst>
          </p:cNvPr>
          <p:cNvSpPr/>
          <p:nvPr/>
        </p:nvSpPr>
        <p:spPr>
          <a:xfrm>
            <a:off x="604106" y="4356859"/>
            <a:ext cx="2133600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Frontend: HTML, CSS, JavaScript, ReactJS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E8EE2-C686-402B-8228-2C37166A8276}"/>
              </a:ext>
            </a:extLst>
          </p:cNvPr>
          <p:cNvSpPr/>
          <p:nvPr/>
        </p:nvSpPr>
        <p:spPr>
          <a:xfrm>
            <a:off x="6138185" y="4327216"/>
            <a:ext cx="2133599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Database: Firebase (cloud-based, real-time storage and authentication)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EA5890-2F20-7FFC-5440-2E389B0AF1BC}"/>
              </a:ext>
            </a:extLst>
          </p:cNvPr>
          <p:cNvSpPr/>
          <p:nvPr/>
        </p:nvSpPr>
        <p:spPr>
          <a:xfrm>
            <a:off x="9053266" y="4327216"/>
            <a:ext cx="2224333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AI Models: DeepSeek (sentiment analysis), Nous Research (NLP for chatbot and insights)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ADD01A-B3CB-E516-C4C8-C7E209E099D0}"/>
              </a:ext>
            </a:extLst>
          </p:cNvPr>
          <p:cNvSpPr/>
          <p:nvPr/>
        </p:nvSpPr>
        <p:spPr>
          <a:xfrm>
            <a:off x="3223103" y="4356859"/>
            <a:ext cx="2224333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Backend: Node.js, Express.js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660" y="3142"/>
            <a:ext cx="8103234" cy="998219"/>
          </a:xfrm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3500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FEASIBILITY</a:t>
            </a:r>
            <a:r>
              <a:rPr spc="-35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226871" y="130500"/>
            <a:ext cx="1830529" cy="691942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0021" y="189341"/>
            <a:ext cx="804228" cy="5742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pc="-20" dirty="0">
                <a:latin typeface="Calibri"/>
                <a:cs typeface="Calibri"/>
              </a:rPr>
              <a:t>Vertex </a:t>
            </a:r>
          </a:p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z="1800" spc="-20" dirty="0">
                <a:latin typeface="Calibri"/>
                <a:cs typeface="Calibri"/>
              </a:rPr>
              <a:t> Wave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400" y="118235"/>
            <a:ext cx="1966306" cy="82189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710CC-7652-0694-1616-884EFDBB7664}"/>
              </a:ext>
            </a:extLst>
          </p:cNvPr>
          <p:cNvSpPr txBox="1"/>
          <p:nvPr/>
        </p:nvSpPr>
        <p:spPr>
          <a:xfrm>
            <a:off x="31809" y="994127"/>
            <a:ext cx="11350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FEASIBIITY OF THE IDEA:-</a:t>
            </a:r>
          </a:p>
          <a:p>
            <a:r>
              <a:rPr lang="en-US" dirty="0"/>
              <a:t>💻 </a:t>
            </a:r>
            <a:r>
              <a:rPr lang="en-US" b="1" dirty="0"/>
              <a:t>Technical:</a:t>
            </a:r>
            <a:r>
              <a:rPr lang="en-US" dirty="0"/>
              <a:t> Core buildable with GPT-4, Firebase, React Native; advanced (mentor booking)- needs funding.</a:t>
            </a:r>
            <a:br>
              <a:rPr lang="en-US" dirty="0"/>
            </a:br>
            <a:r>
              <a:rPr lang="en-US" dirty="0"/>
              <a:t>⚙️ </a:t>
            </a:r>
            <a:r>
              <a:rPr lang="en-US" b="1" dirty="0"/>
              <a:t>Operational:</a:t>
            </a:r>
            <a:r>
              <a:rPr lang="en-US" dirty="0"/>
              <a:t> Mentor/therapist partnerships viable.</a:t>
            </a:r>
            <a:br>
              <a:rPr lang="en-US" dirty="0"/>
            </a:br>
            <a:r>
              <a:rPr lang="en-US" dirty="0"/>
              <a:t>📈 </a:t>
            </a:r>
            <a:r>
              <a:rPr lang="en-US" b="1" dirty="0"/>
              <a:t>Market:</a:t>
            </a:r>
            <a:r>
              <a:rPr lang="en-US" dirty="0"/>
              <a:t> Post-COVID boom; demand for all-in-one, stigma-free mental health solutions.</a:t>
            </a:r>
            <a:br>
              <a:rPr lang="en-US" dirty="0"/>
            </a:br>
            <a:r>
              <a:rPr lang="en-US" dirty="0"/>
              <a:t>✨ </a:t>
            </a:r>
            <a:r>
              <a:rPr lang="en-US" b="1" dirty="0"/>
              <a:t>Differentiators:</a:t>
            </a:r>
            <a:r>
              <a:rPr lang="en-US" dirty="0"/>
              <a:t> Sentiment tracking, addiction test, mentor access.</a:t>
            </a:r>
            <a:br>
              <a:rPr lang="en-US" dirty="0"/>
            </a:br>
            <a:r>
              <a:rPr lang="en-US" dirty="0"/>
              <a:t>💵 </a:t>
            </a:r>
            <a:r>
              <a:rPr lang="en-US" b="1" dirty="0"/>
              <a:t>Economic:</a:t>
            </a:r>
            <a:r>
              <a:rPr lang="en-US" dirty="0"/>
              <a:t> Lean MVP via open-source; revenue from subscriptions, premium counseling, partnerships..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7EF8D-BDE7-71F4-5048-EFBD35B854E8}"/>
              </a:ext>
            </a:extLst>
          </p:cNvPr>
          <p:cNvSpPr txBox="1"/>
          <p:nvPr/>
        </p:nvSpPr>
        <p:spPr>
          <a:xfrm>
            <a:off x="0" y="3102782"/>
            <a:ext cx="119539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🚨 Major Risks &amp; Solutions:-</a:t>
            </a:r>
          </a:p>
          <a:p>
            <a:r>
              <a:rPr lang="en-US" b="1" dirty="0"/>
              <a:t>Data Privacy</a:t>
            </a:r>
            <a:r>
              <a:rPr lang="en-US" dirty="0"/>
              <a:t> → Risk of leaks → ✅ Encrypt, anonymize, ensure HIPAA/GDPR compliance.</a:t>
            </a:r>
          </a:p>
          <a:p>
            <a:r>
              <a:rPr lang="en-US" b="1" dirty="0"/>
              <a:t>AI Accuracy</a:t>
            </a:r>
            <a:r>
              <a:rPr lang="en-US" dirty="0"/>
              <a:t> → Misread harmful emotions → ✅ Hybrid AI + human review, crisis support links.</a:t>
            </a:r>
          </a:p>
          <a:p>
            <a:r>
              <a:rPr lang="en-US" b="1" dirty="0"/>
              <a:t>User Retention</a:t>
            </a:r>
            <a:r>
              <a:rPr lang="en-US" dirty="0"/>
              <a:t> → Drop-off after excitement → ✅ Gamification, personalized insights, mentor/community support.</a:t>
            </a:r>
          </a:p>
          <a:p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9E960B-0FBE-53F8-A97C-238FC180EC0C}"/>
              </a:ext>
            </a:extLst>
          </p:cNvPr>
          <p:cNvSpPr/>
          <p:nvPr/>
        </p:nvSpPr>
        <p:spPr>
          <a:xfrm>
            <a:off x="152399" y="4495800"/>
            <a:ext cx="11801513" cy="170592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                                        ⭐ </a:t>
            </a: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Supporting Facts for Feasibility and Viability</a:t>
            </a:r>
            <a:r>
              <a:rPr lang="en-US" sz="2000" dirty="0"/>
              <a:t> ⭐ 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chemeClr val="tx1"/>
                </a:solidFill>
              </a:rPr>
              <a:t>A May 2022 IMARC survey found 61% of women and 55% of men in India use digital tools for mental well-being. The Indian mental health app market is projected to grow from $498M (2024) to $1.41B by 2030, CAGR 18.5%.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2233" y="-43307"/>
            <a:ext cx="8103234" cy="998219"/>
          </a:xfrm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994535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IMPACT</a:t>
            </a:r>
            <a:r>
              <a:rPr spc="-23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88844"/>
            <a:ext cx="1554817" cy="5857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E69B4-9A2A-9DC2-6A4F-CD3B81F4E62F}"/>
              </a:ext>
            </a:extLst>
          </p:cNvPr>
          <p:cNvSpPr txBox="1"/>
          <p:nvPr/>
        </p:nvSpPr>
        <p:spPr>
          <a:xfrm>
            <a:off x="650627" y="184071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</a:t>
            </a:r>
          </a:p>
          <a:p>
            <a:r>
              <a:rPr lang="en-US" dirty="0"/>
              <a:t> Wave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711969-E882-72B8-6D40-69718C215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9" y="277918"/>
            <a:ext cx="7913555" cy="56160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CE6750-B2C6-A310-C436-4E334482735C}"/>
              </a:ext>
            </a:extLst>
          </p:cNvPr>
          <p:cNvSpPr txBox="1"/>
          <p:nvPr/>
        </p:nvSpPr>
        <p:spPr>
          <a:xfrm>
            <a:off x="136438" y="764619"/>
            <a:ext cx="5105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                       Potential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Mental Health Awareness: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gain insights into their emotions, mood patterns, and mental well-being through diary entries, mood tracking, and sentiment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Harmful Emotions: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Harmful sentiments are identified early, helping prevent escalation of mental health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to Support and Guidance: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Mentorship, counseling sessions, and a 24/7 AI chatbot provide emotional support and guidance anytime.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Encouragement of Positive Habits: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Streak tracking, gamified self-care activities, and resource hubs motivate consistent engagement and personal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Self-Empowerment: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make informed decisions about their mental health and develop emotional resilience.</a:t>
            </a:r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D587A7-BA5F-5E40-0EA4-846B84FB6A75}"/>
              </a:ext>
            </a:extLst>
          </p:cNvPr>
          <p:cNvSpPr/>
          <p:nvPr/>
        </p:nvSpPr>
        <p:spPr>
          <a:xfrm>
            <a:off x="4953000" y="5607001"/>
            <a:ext cx="1219200" cy="152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B7FA96C6-6165-6EEA-7E11-4AEA6F973D65}"/>
              </a:ext>
            </a:extLst>
          </p:cNvPr>
          <p:cNvSpPr/>
          <p:nvPr/>
        </p:nvSpPr>
        <p:spPr>
          <a:xfrm>
            <a:off x="226871" y="130500"/>
            <a:ext cx="1830529" cy="691942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165860">
              <a:lnSpc>
                <a:spcPct val="100000"/>
              </a:lnSpc>
              <a:spcBef>
                <a:spcPts val="105"/>
              </a:spcBef>
              <a:tabLst>
                <a:tab pos="3909695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2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6432" y="213042"/>
            <a:ext cx="1238568" cy="5742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pc="-20" dirty="0">
                <a:latin typeface="Calibri"/>
                <a:cs typeface="Calibri"/>
              </a:rPr>
              <a:t>Vertex</a:t>
            </a:r>
          </a:p>
          <a:p>
            <a:pPr marL="12700" marR="5080" indent="69850" algn="just">
              <a:lnSpc>
                <a:spcPct val="100800"/>
              </a:lnSpc>
              <a:spcBef>
                <a:spcPts val="85"/>
              </a:spcBef>
            </a:pPr>
            <a:r>
              <a:rPr lang="en-US" sz="1800" spc="-20" dirty="0">
                <a:latin typeface="Calibri"/>
                <a:cs typeface="Calibri"/>
              </a:rPr>
              <a:t> Wave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0754" y="118234"/>
            <a:ext cx="1893951" cy="8097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225A7D2-8DC4-52FC-F63B-80BBB2B907C7}"/>
              </a:ext>
            </a:extLst>
          </p:cNvPr>
          <p:cNvSpPr/>
          <p:nvPr/>
        </p:nvSpPr>
        <p:spPr>
          <a:xfrm>
            <a:off x="226871" y="130500"/>
            <a:ext cx="1830529" cy="691942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09069-2B55-5BE1-F15E-C2371B5BCA71}"/>
              </a:ext>
            </a:extLst>
          </p:cNvPr>
          <p:cNvSpPr txBox="1"/>
          <p:nvPr/>
        </p:nvSpPr>
        <p:spPr>
          <a:xfrm>
            <a:off x="7314308" y="927953"/>
            <a:ext cx="5029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"Artificial Intelligence-Enabled Chatbots in Mental Health: A Systematic Review"</a:t>
            </a:r>
          </a:p>
          <a:p>
            <a:r>
              <a:rPr lang="en-US" b="1" dirty="0"/>
              <a:t>Authors:</a:t>
            </a:r>
            <a:r>
              <a:rPr lang="en-US" dirty="0"/>
              <a:t> Batyrkhan Omarov, Sergazi Narynov, Zhandos Zhumanov</a:t>
            </a:r>
          </a:p>
          <a:p>
            <a:r>
              <a:rPr lang="en-US" b="1" dirty="0"/>
              <a:t>Published:</a:t>
            </a:r>
            <a:r>
              <a:rPr lang="en-US" dirty="0"/>
              <a:t> August 2025</a:t>
            </a:r>
          </a:p>
          <a:p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i="1" dirty="0"/>
              <a:t>Computers, Materials &amp; Continua</a:t>
            </a:r>
            <a:endParaRPr lang="en-US" dirty="0"/>
          </a:p>
          <a:p>
            <a:r>
              <a:rPr lang="en-US" b="1" dirty="0"/>
              <a:t>DOI: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10.32604/cmc.2023.034655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Forms response chart. Question title: Q7 Would you prefer a chatbot counselor (AI chat for support) before approaching a real counselor?. Number of responses: 76 responses.">
            <a:extLst>
              <a:ext uri="{FF2B5EF4-FFF2-40B4-BE49-F238E27FC236}">
                <a16:creationId xmlns:a16="http://schemas.microsoft.com/office/drawing/2014/main" id="{9BFE6CAA-999A-6AC5-7907-01E56B02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78" y="3610232"/>
            <a:ext cx="4800211" cy="258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C76351-10A9-30F6-BDD0-C8754ABF06B6}"/>
              </a:ext>
            </a:extLst>
          </p:cNvPr>
          <p:cNvSpPr/>
          <p:nvPr/>
        </p:nvSpPr>
        <p:spPr>
          <a:xfrm>
            <a:off x="7035878" y="4039110"/>
            <a:ext cx="914400" cy="381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CF9663-EEAA-CD7A-9F83-17DF9481AE1C}"/>
              </a:ext>
            </a:extLst>
          </p:cNvPr>
          <p:cNvSpPr txBox="1"/>
          <p:nvPr/>
        </p:nvSpPr>
        <p:spPr>
          <a:xfrm>
            <a:off x="7467599" y="2899729"/>
            <a:ext cx="4776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survey was conducted among first-year students to gather insights on-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A6C025-64AE-B00B-5775-FC98BA4777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48" y="381804"/>
            <a:ext cx="7046926" cy="6477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3B76933-E376-447C-B3C3-F9C180EB2A90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FFA416C-EF94-45F0-BE85-A2786C1E94A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587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Georgia</vt:lpstr>
      <vt:lpstr>Times New Roman</vt:lpstr>
      <vt:lpstr>Wingdings</vt:lpstr>
      <vt:lpstr>Office Theme</vt:lpstr>
      <vt:lpstr>SMART INDIA HACKATHON 2025</vt:lpstr>
      <vt:lpstr>Proposed Solution 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 aggarwal</dc:creator>
  <cp:lastModifiedBy>komal aggarwal</cp:lastModifiedBy>
  <cp:revision>4</cp:revision>
  <dcterms:created xsi:type="dcterms:W3CDTF">2025-09-23T13:53:36Z</dcterms:created>
  <dcterms:modified xsi:type="dcterms:W3CDTF">2025-09-25T06:49:47Z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LastSaved">
    <vt:filetime>2025-09-23T00:00:00Z</vt:filetime>
  </property>
</Properties>
</file>
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2"/>
    </p:embeddedFont>
    <p:embeddedFont>
      <p:font typeface="Georgia Bold" charset="1" panose="02040802050405020203"/>
      <p:regular r:id="rId13"/>
    </p:embeddedFont>
    <p:embeddedFont>
      <p:font typeface="Calibri (MS)" charset="1" panose="020F0502020204030204"/>
      <p:regular r:id="rId14"/>
    </p:embeddedFont>
    <p:embeddedFont>
      <p:font typeface="Arial Bold" charset="1" panose="020B0704020202020204"/>
      <p:regular r:id="rId15"/>
    </p:embeddedFont>
    <p:embeddedFont>
      <p:font typeface="Times New Roman Bold" charset="1" panose="02020803070505020304"/>
      <p:regular r:id="rId16"/>
    </p:embeddedFont>
    <p:embeddedFont>
      <p:font typeface="Georgia" charset="1" panose="02040502050405020303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24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jpe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2261" y="2127609"/>
            <a:ext cx="5029200" cy="6333639"/>
          </a:xfrm>
          <a:custGeom>
            <a:avLst/>
            <a:gdLst/>
            <a:ahLst/>
            <a:cxnLst/>
            <a:rect r="r" b="b" t="t" l="l"/>
            <a:pathLst>
              <a:path h="6333639" w="5029200">
                <a:moveTo>
                  <a:pt x="0" y="0"/>
                </a:moveTo>
                <a:lnTo>
                  <a:pt x="5029200" y="0"/>
                </a:lnTo>
                <a:lnTo>
                  <a:pt x="5029200" y="6333639"/>
                </a:lnTo>
                <a:lnTo>
                  <a:pt x="0" y="6333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" r="0" b="-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86494" y="4037809"/>
            <a:ext cx="3469862" cy="4206812"/>
            <a:chOff x="0" y="0"/>
            <a:chExt cx="4626483" cy="56090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26483" cy="5609082"/>
            </a:xfrm>
            <a:custGeom>
              <a:avLst/>
              <a:gdLst/>
              <a:ahLst/>
              <a:cxnLst/>
              <a:rect r="r" b="b" t="t" l="l"/>
              <a:pathLst>
                <a:path h="5609082" w="4626483">
                  <a:moveTo>
                    <a:pt x="0" y="0"/>
                  </a:moveTo>
                  <a:lnTo>
                    <a:pt x="4626483" y="0"/>
                  </a:lnTo>
                  <a:lnTo>
                    <a:pt x="4626483" y="5609082"/>
                  </a:lnTo>
                  <a:lnTo>
                    <a:pt x="0" y="5609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76" t="0" r="-6676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5442" y="333670"/>
            <a:ext cx="10176668" cy="102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8"/>
              </a:lnSpc>
            </a:pPr>
            <a:r>
              <a:rPr lang="en-US" sz="5925" b="true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INDIA HACKATHON 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3400" y="1968503"/>
            <a:ext cx="13186924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l" marL="769623" indent="-256541" lvl="2">
              <a:lnSpc>
                <a:spcPts val="4320"/>
              </a:lnSpc>
              <a:buFont typeface="Arial"/>
              <a:buChar char="⚬"/>
            </a:pPr>
            <a:r>
              <a:rPr lang="en-US" b="true" sz="3600" spc="-15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Problem Statement ID –</a:t>
            </a:r>
            <a:r>
              <a:rPr lang="en-US" b="true" sz="3600" spc="-15">
                <a:solidFill>
                  <a:srgbClr val="1F497D"/>
                </a:solidFill>
                <a:latin typeface="Georgia Bold"/>
                <a:ea typeface="Georgia Bold"/>
                <a:cs typeface="Georgia Bold"/>
                <a:sym typeface="Georgia Bold"/>
              </a:rPr>
              <a:t>26196</a:t>
            </a:r>
          </a:p>
          <a:p>
            <a:pPr algn="l" marL="769623" indent="-256541" lvl="2">
              <a:lnSpc>
                <a:spcPts val="4320"/>
              </a:lnSpc>
            </a:pPr>
          </a:p>
          <a:p>
            <a:pPr algn="l" marL="769623" indent="-256541" lvl="2">
              <a:lnSpc>
                <a:spcPts val="4320"/>
              </a:lnSpc>
              <a:buFont typeface="Arial"/>
              <a:buChar char="⚬"/>
            </a:pPr>
            <a:r>
              <a:rPr lang="en-US" b="true" sz="3600" spc="-15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Problem Statement Title-</a:t>
            </a:r>
            <a:r>
              <a:rPr lang="en-US" b="true" sz="3600" spc="-15">
                <a:solidFill>
                  <a:srgbClr val="1F497D"/>
                </a:solidFill>
                <a:latin typeface="Georgia Bold"/>
                <a:ea typeface="Georgia Bold"/>
                <a:cs typeface="Georgia Bold"/>
                <a:sym typeface="Georgia Bold"/>
              </a:rPr>
              <a:t>Student</a:t>
            </a:r>
            <a:r>
              <a:rPr lang="en-US" b="true" sz="3600" spc="-15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  <a:r>
              <a:rPr lang="en-US" b="true" sz="3600" spc="-15">
                <a:solidFill>
                  <a:srgbClr val="1F497D"/>
                </a:solidFill>
                <a:latin typeface="Georgia Bold"/>
                <a:ea typeface="Georgia Bold"/>
                <a:cs typeface="Georgia Bold"/>
                <a:sym typeface="Georgia Bold"/>
              </a:rPr>
              <a:t>Innovation</a:t>
            </a:r>
          </a:p>
          <a:p>
            <a:pPr algn="l" marL="769623" indent="-256541" lvl="2">
              <a:lnSpc>
                <a:spcPts val="4320"/>
              </a:lnSpc>
            </a:pPr>
          </a:p>
          <a:p>
            <a:pPr algn="l" marL="769623" indent="-256541" lvl="2">
              <a:lnSpc>
                <a:spcPts val="4320"/>
              </a:lnSpc>
              <a:buFont typeface="Arial"/>
              <a:buChar char="⚬"/>
            </a:pPr>
            <a:r>
              <a:rPr lang="en-US" b="true" sz="3600" spc="-15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Theme-</a:t>
            </a:r>
            <a:r>
              <a:rPr lang="en-US" b="true" sz="3600" spc="-15">
                <a:solidFill>
                  <a:srgbClr val="1F497D"/>
                </a:solidFill>
                <a:latin typeface="Georgia Bold"/>
                <a:ea typeface="Georgia Bold"/>
                <a:cs typeface="Georgia Bold"/>
                <a:sym typeface="Georgia Bold"/>
              </a:rPr>
              <a:t>MedTech/BioTech/HealthTech</a:t>
            </a:r>
          </a:p>
          <a:p>
            <a:pPr algn="l" marL="769623" indent="-256541" lvl="2">
              <a:lnSpc>
                <a:spcPts val="4320"/>
              </a:lnSpc>
            </a:pPr>
          </a:p>
          <a:p>
            <a:pPr algn="l" marL="769623" indent="-256541" lvl="2">
              <a:lnSpc>
                <a:spcPts val="4320"/>
              </a:lnSpc>
              <a:buFont typeface="Arial"/>
              <a:buChar char="⚬"/>
            </a:pPr>
            <a:r>
              <a:rPr lang="en-US" b="true" sz="3600" spc="-15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PS Category-Software</a:t>
            </a:r>
          </a:p>
          <a:p>
            <a:pPr algn="l" marL="769623" indent="-256541" lvl="2">
              <a:lnSpc>
                <a:spcPts val="4320"/>
              </a:lnSpc>
            </a:pPr>
          </a:p>
          <a:p>
            <a:pPr algn="just" marL="769623" indent="-256541" lvl="2">
              <a:lnSpc>
                <a:spcPts val="4320"/>
              </a:lnSpc>
              <a:buFont typeface="Arial"/>
              <a:buChar char="⚬"/>
            </a:pPr>
            <a:r>
              <a:rPr lang="en-US" b="true" sz="3600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ID-98</a:t>
            </a:r>
          </a:p>
          <a:p>
            <a:pPr algn="l" marL="769623" indent="-256541" lvl="2">
              <a:lnSpc>
                <a:spcPts val="4320"/>
              </a:lnSpc>
            </a:pPr>
          </a:p>
          <a:p>
            <a:pPr algn="l" marL="769623" indent="-256541" lvl="2">
              <a:lnSpc>
                <a:spcPts val="4320"/>
              </a:lnSpc>
              <a:buFont typeface="Arial"/>
              <a:buChar char="⚬"/>
            </a:pPr>
            <a:r>
              <a:rPr lang="en-US" b="true" sz="3600" spc="-15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Team Name-Git_commit_win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41628" y="309543"/>
            <a:ext cx="3314700" cy="1685925"/>
            <a:chOff x="0" y="0"/>
            <a:chExt cx="4419600" cy="2247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96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2" t="0" r="-3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213" y="1641110"/>
            <a:ext cx="4543158" cy="3803237"/>
            <a:chOff x="0" y="0"/>
            <a:chExt cx="6057544" cy="5070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57519" cy="5070983"/>
            </a:xfrm>
            <a:custGeom>
              <a:avLst/>
              <a:gdLst/>
              <a:ahLst/>
              <a:cxnLst/>
              <a:rect r="r" b="b" t="t" l="l"/>
              <a:pathLst>
                <a:path h="5070983" w="6057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5898769" y="0"/>
                  </a:lnTo>
                  <a:cubicBezTo>
                    <a:pt x="5986399" y="0"/>
                    <a:pt x="6057519" y="71120"/>
                    <a:pt x="6057519" y="158750"/>
                  </a:cubicBezTo>
                  <a:lnTo>
                    <a:pt x="6057519" y="4912233"/>
                  </a:lnTo>
                  <a:cubicBezTo>
                    <a:pt x="6057519" y="4999863"/>
                    <a:pt x="5986399" y="5070983"/>
                    <a:pt x="5898769" y="5070983"/>
                  </a:cubicBezTo>
                  <a:lnTo>
                    <a:pt x="158750" y="5070983"/>
                  </a:lnTo>
                  <a:cubicBezTo>
                    <a:pt x="71120" y="5070983"/>
                    <a:pt x="0" y="4999863"/>
                    <a:pt x="0" y="4912233"/>
                  </a:cubicBezTo>
                  <a:close/>
                </a:path>
              </a:pathLst>
            </a:custGeom>
            <a:solidFill>
              <a:srgbClr val="F7F6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366" y="5715495"/>
            <a:ext cx="5953937" cy="3776853"/>
            <a:chOff x="0" y="0"/>
            <a:chExt cx="7472593" cy="47402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2467" cy="4740113"/>
            </a:xfrm>
            <a:custGeom>
              <a:avLst/>
              <a:gdLst/>
              <a:ahLst/>
              <a:cxnLst/>
              <a:rect r="r" b="b" t="t" l="l"/>
              <a:pathLst>
                <a:path h="4740113" w="7472467">
                  <a:moveTo>
                    <a:pt x="0" y="148322"/>
                  </a:moveTo>
                  <a:cubicBezTo>
                    <a:pt x="0" y="66403"/>
                    <a:pt x="90880" y="0"/>
                    <a:pt x="202995" y="0"/>
                  </a:cubicBezTo>
                  <a:lnTo>
                    <a:pt x="7269473" y="0"/>
                  </a:lnTo>
                  <a:cubicBezTo>
                    <a:pt x="7381587" y="0"/>
                    <a:pt x="7472467" y="66403"/>
                    <a:pt x="7472467" y="148322"/>
                  </a:cubicBezTo>
                  <a:lnTo>
                    <a:pt x="7472467" y="4591791"/>
                  </a:lnTo>
                  <a:cubicBezTo>
                    <a:pt x="7472467" y="4673710"/>
                    <a:pt x="7381587" y="4740113"/>
                    <a:pt x="7269473" y="4740113"/>
                  </a:cubicBezTo>
                  <a:lnTo>
                    <a:pt x="202995" y="4740113"/>
                  </a:lnTo>
                  <a:cubicBezTo>
                    <a:pt x="90880" y="4740243"/>
                    <a:pt x="0" y="4673841"/>
                    <a:pt x="0" y="4591791"/>
                  </a:cubicBezTo>
                  <a:close/>
                </a:path>
              </a:pathLst>
            </a:custGeom>
            <a:solidFill>
              <a:srgbClr val="F7F6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6796" y="5667870"/>
            <a:ext cx="5841326" cy="442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95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USP – What Makes HealHub Unique</a:t>
            </a:r>
          </a:p>
          <a:p>
            <a:pPr algn="l">
              <a:lnSpc>
                <a:spcPts val="2347"/>
              </a:lnSpc>
            </a:pPr>
          </a:p>
          <a:p>
            <a:pPr algn="l" marL="422360" indent="-211180" lvl="1">
              <a:lnSpc>
                <a:spcPts val="2347"/>
              </a:lnSpc>
              <a:buFont typeface="Arial"/>
              <a:buChar char="•"/>
            </a:pPr>
            <a:r>
              <a:rPr lang="en-US" b="true" sz="1956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Safety-First Architecture: Built with safety at its core, not as an afterthought.</a:t>
            </a:r>
          </a:p>
          <a:p>
            <a:pPr algn="l" marL="422360" indent="-211180" lvl="1">
              <a:lnSpc>
                <a:spcPts val="2347"/>
              </a:lnSpc>
              <a:buFont typeface="Arial"/>
              <a:buChar char="•"/>
            </a:pPr>
            <a:r>
              <a:rPr lang="en-US" b="true" sz="1956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Pre-emptive Crisis Detection: Every AI interaction is intercepted by a safety layer before reaching the main model.</a:t>
            </a:r>
          </a:p>
          <a:p>
            <a:pPr algn="l" marL="422360" indent="-211180" lvl="1">
              <a:lnSpc>
                <a:spcPts val="2347"/>
              </a:lnSpc>
              <a:buFont typeface="Arial"/>
              <a:buChar char="•"/>
            </a:pPr>
            <a:r>
              <a:rPr lang="en-US" b="true" sz="1956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Comprehensive Ecosystem: Blends anonymous-yet-accountable peer support, mood-personalized interventions, and a performance-paid mentor economy.</a:t>
            </a:r>
          </a:p>
          <a:p>
            <a:pPr algn="l" marL="422360" indent="-211180" lvl="1">
              <a:lnSpc>
                <a:spcPts val="2347"/>
              </a:lnSpc>
              <a:buFont typeface="Arial"/>
              <a:buChar char="•"/>
            </a:pPr>
            <a:r>
              <a:rPr lang="en-US" b="true" sz="1956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Production-Ready: A fully functional, live end-to-end product—not just a prototype.</a:t>
            </a:r>
          </a:p>
          <a:p>
            <a:pPr algn="l">
              <a:lnSpc>
                <a:spcPts val="2347"/>
              </a:lnSpc>
            </a:pPr>
            <a:r>
              <a:rPr lang="en-US" sz="1956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  <a:p>
            <a:pPr algn="l">
              <a:lnSpc>
                <a:spcPts val="234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5408" y="1746466"/>
            <a:ext cx="4360278" cy="37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Understanding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C05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🔴 Fragmented Support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Disconnected services make mental-health care inaccessible, private, and non-continuous.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7964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🔴 Lack of Personalization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Limited personalized recovery, peer connection, and human support leaves students without holistic care.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652123" y="346415"/>
            <a:ext cx="522795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  <p:sp>
        <p:nvSpPr>
          <p:cNvPr name="Freeform 9" id="9" descr="Your startup LOGO"/>
          <p:cNvSpPr/>
          <p:nvPr/>
        </p:nvSpPr>
        <p:spPr>
          <a:xfrm flipH="false" flipV="false" rot="0">
            <a:off x="196796" y="247869"/>
            <a:ext cx="3513258" cy="1052236"/>
          </a:xfrm>
          <a:custGeom>
            <a:avLst/>
            <a:gdLst/>
            <a:ahLst/>
            <a:cxnLst/>
            <a:rect r="r" b="b" t="t" l="l"/>
            <a:pathLst>
              <a:path h="1052236" w="3513258">
                <a:moveTo>
                  <a:pt x="0" y="0"/>
                </a:moveTo>
                <a:lnTo>
                  <a:pt x="3513258" y="0"/>
                </a:lnTo>
                <a:lnTo>
                  <a:pt x="3513258" y="1052236"/>
                </a:lnTo>
                <a:lnTo>
                  <a:pt x="0" y="1052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08559" y="224333"/>
            <a:ext cx="3489779" cy="1064000"/>
            <a:chOff x="0" y="0"/>
            <a:chExt cx="4653039" cy="1418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53041" cy="1418666"/>
            </a:xfrm>
            <a:custGeom>
              <a:avLst/>
              <a:gdLst/>
              <a:ahLst/>
              <a:cxnLst/>
              <a:rect r="r" b="b" t="t" l="l"/>
              <a:pathLst>
                <a:path h="1418666" w="4653041">
                  <a:moveTo>
                    <a:pt x="0" y="0"/>
                  </a:moveTo>
                  <a:lnTo>
                    <a:pt x="4653041" y="0"/>
                  </a:lnTo>
                  <a:lnTo>
                    <a:pt x="4653041" y="1418666"/>
                  </a:lnTo>
                  <a:lnTo>
                    <a:pt x="0" y="1418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08" r="0" b="-1390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653039" cy="1475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Git_Commit_Win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833854" y="172145"/>
            <a:ext cx="2989516" cy="1411605"/>
            <a:chOff x="0" y="0"/>
            <a:chExt cx="3986022" cy="1882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86022" cy="1882140"/>
            </a:xfrm>
            <a:custGeom>
              <a:avLst/>
              <a:gdLst/>
              <a:ahLst/>
              <a:cxnLst/>
              <a:rect r="r" b="b" t="t" l="l"/>
              <a:pathLst>
                <a:path h="1882140" w="3986022">
                  <a:moveTo>
                    <a:pt x="0" y="0"/>
                  </a:moveTo>
                  <a:lnTo>
                    <a:pt x="3986022" y="0"/>
                  </a:lnTo>
                  <a:lnTo>
                    <a:pt x="3986022" y="1882140"/>
                  </a:lnTo>
                  <a:lnTo>
                    <a:pt x="0" y="1882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90862" y="1479499"/>
            <a:ext cx="13293223" cy="4317616"/>
            <a:chOff x="0" y="0"/>
            <a:chExt cx="17724298" cy="57568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24247" cy="5756783"/>
            </a:xfrm>
            <a:custGeom>
              <a:avLst/>
              <a:gdLst/>
              <a:ahLst/>
              <a:cxnLst/>
              <a:rect r="r" b="b" t="t" l="l"/>
              <a:pathLst>
                <a:path h="5756783" w="17724247">
                  <a:moveTo>
                    <a:pt x="0" y="0"/>
                  </a:moveTo>
                  <a:lnTo>
                    <a:pt x="17724247" y="0"/>
                  </a:lnTo>
                  <a:lnTo>
                    <a:pt x="17724247" y="5756783"/>
                  </a:lnTo>
                  <a:lnTo>
                    <a:pt x="0" y="575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50" r="0" b="-225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9623499"/>
            <a:ext cx="18288000" cy="754856"/>
            <a:chOff x="0" y="0"/>
            <a:chExt cx="24384000" cy="10064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565683" y="9681896"/>
            <a:ext cx="3785235" cy="30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sz="1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Git_Commit_Win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313328" y="6057224"/>
            <a:ext cx="6728231" cy="3217545"/>
            <a:chOff x="0" y="0"/>
            <a:chExt cx="9811453" cy="4691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11454" cy="4691888"/>
            </a:xfrm>
            <a:custGeom>
              <a:avLst/>
              <a:gdLst/>
              <a:ahLst/>
              <a:cxnLst/>
              <a:rect r="r" b="b" t="t" l="l"/>
              <a:pathLst>
                <a:path h="4691888" w="9811454">
                  <a:moveTo>
                    <a:pt x="0" y="146812"/>
                  </a:moveTo>
                  <a:cubicBezTo>
                    <a:pt x="0" y="65786"/>
                    <a:pt x="59891" y="0"/>
                    <a:pt x="133657" y="0"/>
                  </a:cubicBezTo>
                  <a:lnTo>
                    <a:pt x="9677796" y="0"/>
                  </a:lnTo>
                  <a:cubicBezTo>
                    <a:pt x="9751678" y="0"/>
                    <a:pt x="9811454" y="65786"/>
                    <a:pt x="9811454" y="146812"/>
                  </a:cubicBezTo>
                  <a:lnTo>
                    <a:pt x="9811454" y="4545076"/>
                  </a:lnTo>
                  <a:cubicBezTo>
                    <a:pt x="9811454" y="4626229"/>
                    <a:pt x="9751562" y="4691888"/>
                    <a:pt x="9677796" y="4691888"/>
                  </a:cubicBezTo>
                  <a:lnTo>
                    <a:pt x="133657" y="4691888"/>
                  </a:lnTo>
                  <a:cubicBezTo>
                    <a:pt x="59891" y="4692015"/>
                    <a:pt x="0" y="4626229"/>
                    <a:pt x="0" y="4545076"/>
                  </a:cubicBezTo>
                  <a:close/>
                </a:path>
              </a:pathLst>
            </a:custGeom>
            <a:solidFill>
              <a:srgbClr val="F7F6F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313328" y="6084846"/>
            <a:ext cx="6728231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5107" indent="-102554" lvl="1">
              <a:lnSpc>
                <a:spcPts val="204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24/7 </a:t>
            </a: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Saksham AI:</a:t>
            </a:r>
            <a:r>
              <a:rPr lang="en-US" b="true" sz="17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Crisis-aware wellness bot (CBT/DBT) with instant auto-escalation to the iCall helpline.</a:t>
            </a:r>
          </a:p>
          <a:p>
            <a:pPr algn="l" marL="205107" indent="-102554" lvl="1">
              <a:lnSpc>
                <a:spcPts val="204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Mood Journaling: </a:t>
            </a:r>
            <a:r>
              <a:rPr lang="en-US" b="true" sz="17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Quick check-ins and diary entries, visualized on a 30-day trend graph.</a:t>
            </a:r>
          </a:p>
          <a:p>
            <a:pPr algn="l" marL="205107" indent="-102554" lvl="1">
              <a:lnSpc>
                <a:spcPts val="204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Wellness Reports: </a:t>
            </a:r>
            <a:r>
              <a:rPr lang="en-US" b="true" sz="17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weekly/monthly scores tracking stress, hope, and sentiment.</a:t>
            </a:r>
          </a:p>
          <a:p>
            <a:pPr algn="l" marL="205107" indent="-102554" lvl="1">
              <a:lnSpc>
                <a:spcPts val="204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Clinical Assessments: </a:t>
            </a:r>
            <a:r>
              <a:rPr lang="en-US" b="true" sz="17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 built-in clinical tests like PHQ-9 and GAD-7.</a:t>
            </a:r>
          </a:p>
          <a:p>
            <a:pPr algn="l" marL="205107" indent="-102554" lvl="1">
              <a:lnSpc>
                <a:spcPts val="2040"/>
              </a:lnSpc>
              <a:buFont typeface="Arial"/>
              <a:buChar char="•"/>
            </a:pPr>
            <a:r>
              <a:rPr lang="en-US" b="true" sz="17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Personalized Exercises: Live breathing and grounding resets tailored to your current mood.</a:t>
            </a:r>
          </a:p>
          <a:p>
            <a:pPr algn="l" marL="205107" indent="-102554" lvl="1">
              <a:lnSpc>
                <a:spcPts val="204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Recovery Roadmaps: </a:t>
            </a:r>
            <a:r>
              <a:rPr lang="en-US" b="true" sz="17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21/60-day structured plans with streaks and badges for addiction recovery.</a:t>
            </a:r>
          </a:p>
          <a:p>
            <a:pPr algn="l">
              <a:lnSpc>
                <a:spcPts val="2040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3241628" y="6071026"/>
            <a:ext cx="4787860" cy="3217545"/>
            <a:chOff x="0" y="0"/>
            <a:chExt cx="6981904" cy="46919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1904" cy="4691888"/>
            </a:xfrm>
            <a:custGeom>
              <a:avLst/>
              <a:gdLst/>
              <a:ahLst/>
              <a:cxnLst/>
              <a:rect r="r" b="b" t="t" l="l"/>
              <a:pathLst>
                <a:path h="4691888" w="6981904">
                  <a:moveTo>
                    <a:pt x="0" y="146812"/>
                  </a:moveTo>
                  <a:cubicBezTo>
                    <a:pt x="0" y="65786"/>
                    <a:pt x="42619" y="0"/>
                    <a:pt x="95112" y="0"/>
                  </a:cubicBezTo>
                  <a:lnTo>
                    <a:pt x="6886793" y="0"/>
                  </a:lnTo>
                  <a:cubicBezTo>
                    <a:pt x="6939367" y="0"/>
                    <a:pt x="6981904" y="65786"/>
                    <a:pt x="6981904" y="146812"/>
                  </a:cubicBezTo>
                  <a:lnTo>
                    <a:pt x="6981904" y="4545076"/>
                  </a:lnTo>
                  <a:cubicBezTo>
                    <a:pt x="6981904" y="4626229"/>
                    <a:pt x="6939285" y="4691888"/>
                    <a:pt x="6886793" y="4691888"/>
                  </a:cubicBezTo>
                  <a:lnTo>
                    <a:pt x="95112" y="4691888"/>
                  </a:lnTo>
                  <a:cubicBezTo>
                    <a:pt x="42619" y="4692015"/>
                    <a:pt x="0" y="4626229"/>
                    <a:pt x="0" y="4545076"/>
                  </a:cubicBezTo>
                  <a:close/>
                </a:path>
              </a:pathLst>
            </a:custGeom>
            <a:solidFill>
              <a:srgbClr val="F7F6F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127909" y="5981024"/>
            <a:ext cx="4947779" cy="317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19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Chattr (Anonymous Chat): </a:t>
            </a:r>
            <a:r>
              <a:rPr lang="en-US" b="true" sz="18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Fast, secure, WebSocket-based anonymous matchmaking with zero message history.</a:t>
            </a:r>
          </a:p>
          <a:p>
            <a:pPr algn="l" marL="388620" indent="-194310" lvl="1">
              <a:lnSpc>
                <a:spcPts val="2519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Community Spaces: </a:t>
            </a:r>
            <a:r>
              <a:rPr lang="en-US" b="true" sz="18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Real-time, user-created feeds with instant voting and comments.</a:t>
            </a:r>
          </a:p>
          <a:p>
            <a:pPr algn="l" marL="388620" indent="-194310" lvl="1">
              <a:lnSpc>
                <a:spcPts val="2519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SoulScape &amp; Mind Games: </a:t>
            </a:r>
            <a:r>
              <a:rPr lang="en-US" b="true" sz="18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Calming virtual environments and healthy brain-training games</a:t>
            </a:r>
          </a:p>
          <a:p>
            <a:pPr algn="l" marL="388620" indent="-194310" lvl="1">
              <a:lnSpc>
                <a:spcPts val="2519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Verified Mentors: </a:t>
            </a:r>
            <a:r>
              <a:rPr lang="en-US" b="true" sz="1800">
                <a:solidFill>
                  <a:srgbClr val="1F48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video sessions with LinkedIn-verified human guides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967287" y="9845250"/>
            <a:ext cx="4267200" cy="561976"/>
            <a:chOff x="0" y="0"/>
            <a:chExt cx="5689600" cy="7493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13856" y="526618"/>
            <a:ext cx="14769587" cy="9233764"/>
            <a:chOff x="0" y="0"/>
            <a:chExt cx="21079560" cy="131786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79611" cy="13178693"/>
            </a:xfrm>
            <a:custGeom>
              <a:avLst/>
              <a:gdLst/>
              <a:ahLst/>
              <a:cxnLst/>
              <a:rect r="r" b="b" t="t" l="l"/>
              <a:pathLst>
                <a:path h="13178693" w="21079611">
                  <a:moveTo>
                    <a:pt x="0" y="0"/>
                  </a:moveTo>
                  <a:lnTo>
                    <a:pt x="21079611" y="0"/>
                  </a:lnTo>
                  <a:lnTo>
                    <a:pt x="21079611" y="13178693"/>
                  </a:lnTo>
                  <a:lnTo>
                    <a:pt x="0" y="13178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8201" y="-2385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59000" y="1050865"/>
            <a:ext cx="3276600" cy="769410"/>
            <a:chOff x="0" y="0"/>
            <a:chExt cx="4368800" cy="10258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68800" cy="1025906"/>
            </a:xfrm>
            <a:custGeom>
              <a:avLst/>
              <a:gdLst/>
              <a:ahLst/>
              <a:cxnLst/>
              <a:rect r="r" b="b" t="t" l="l"/>
              <a:pathLst>
                <a:path h="1025906" w="4368800">
                  <a:moveTo>
                    <a:pt x="0" y="0"/>
                  </a:moveTo>
                  <a:lnTo>
                    <a:pt x="4368800" y="0"/>
                  </a:lnTo>
                  <a:lnTo>
                    <a:pt x="4368800" y="1025906"/>
                  </a:lnTo>
                  <a:lnTo>
                    <a:pt x="0" y="102590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694045" y="-174650"/>
            <a:ext cx="940069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TECHNICAL APPROACH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8" y="9825428"/>
            <a:ext cx="18288000" cy="493424"/>
            <a:chOff x="0" y="0"/>
            <a:chExt cx="24384000" cy="6578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57860"/>
            </a:xfrm>
            <a:custGeom>
              <a:avLst/>
              <a:gdLst/>
              <a:ahLst/>
              <a:cxnLst/>
              <a:rect r="r" b="b" t="t" l="l"/>
              <a:pathLst>
                <a:path h="6578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57860"/>
                  </a:lnTo>
                  <a:lnTo>
                    <a:pt x="0" y="65786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11" id="11" descr="Your startup LOGO"/>
          <p:cNvSpPr/>
          <p:nvPr/>
        </p:nvSpPr>
        <p:spPr>
          <a:xfrm flipH="false" flipV="false" rot="0">
            <a:off x="1248" y="83201"/>
            <a:ext cx="3513258" cy="1052236"/>
          </a:xfrm>
          <a:custGeom>
            <a:avLst/>
            <a:gdLst/>
            <a:ahLst/>
            <a:cxnLst/>
            <a:rect r="r" b="b" t="t" l="l"/>
            <a:pathLst>
              <a:path h="1052236" w="3513258">
                <a:moveTo>
                  <a:pt x="0" y="0"/>
                </a:moveTo>
                <a:lnTo>
                  <a:pt x="3513258" y="0"/>
                </a:lnTo>
                <a:lnTo>
                  <a:pt x="3513258" y="1052236"/>
                </a:lnTo>
                <a:lnTo>
                  <a:pt x="0" y="1052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99436" y="59665"/>
            <a:ext cx="3489779" cy="1064000"/>
            <a:chOff x="0" y="0"/>
            <a:chExt cx="4653039" cy="14186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53041" cy="1418666"/>
            </a:xfrm>
            <a:custGeom>
              <a:avLst/>
              <a:gdLst/>
              <a:ahLst/>
              <a:cxnLst/>
              <a:rect r="r" b="b" t="t" l="l"/>
              <a:pathLst>
                <a:path h="1418666" w="4653041">
                  <a:moveTo>
                    <a:pt x="0" y="0"/>
                  </a:moveTo>
                  <a:lnTo>
                    <a:pt x="4653041" y="0"/>
                  </a:lnTo>
                  <a:lnTo>
                    <a:pt x="4653041" y="1418666"/>
                  </a:lnTo>
                  <a:lnTo>
                    <a:pt x="0" y="14186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08" r="0" b="-139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53039" cy="1475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Git_Commit_Win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29400" y="9515827"/>
            <a:ext cx="5148901" cy="960377"/>
            <a:chOff x="0" y="0"/>
            <a:chExt cx="6865201" cy="12805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5239" cy="1280541"/>
            </a:xfrm>
            <a:custGeom>
              <a:avLst/>
              <a:gdLst/>
              <a:ahLst/>
              <a:cxnLst/>
              <a:rect r="r" b="b" t="t" l="l"/>
              <a:pathLst>
                <a:path h="1280541" w="6865239">
                  <a:moveTo>
                    <a:pt x="0" y="0"/>
                  </a:moveTo>
                  <a:lnTo>
                    <a:pt x="6865239" y="0"/>
                  </a:lnTo>
                  <a:lnTo>
                    <a:pt x="6865239" y="1280541"/>
                  </a:lnTo>
                  <a:lnTo>
                    <a:pt x="0" y="12805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91" r="0" b="-5438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29400" y="9491720"/>
            <a:ext cx="5148901" cy="1152727"/>
            <a:chOff x="0" y="0"/>
            <a:chExt cx="6865201" cy="15369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65201" cy="1536972"/>
            </a:xfrm>
            <a:custGeom>
              <a:avLst/>
              <a:gdLst/>
              <a:ahLst/>
              <a:cxnLst/>
              <a:rect r="r" b="b" t="t" l="l"/>
              <a:pathLst>
                <a:path h="1536972" w="6865201">
                  <a:moveTo>
                    <a:pt x="0" y="0"/>
                  </a:moveTo>
                  <a:lnTo>
                    <a:pt x="6865201" y="0"/>
                  </a:lnTo>
                  <a:lnTo>
                    <a:pt x="6865201" y="1536972"/>
                  </a:lnTo>
                  <a:lnTo>
                    <a:pt x="0" y="15369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34" r="0" b="-370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65201" cy="1575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8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@SIH Idea submission- Git_Commit_Win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631287" y="-131664"/>
            <a:ext cx="2504313" cy="1182529"/>
            <a:chOff x="0" y="0"/>
            <a:chExt cx="3339084" cy="15767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39084" cy="1576705"/>
            </a:xfrm>
            <a:custGeom>
              <a:avLst/>
              <a:gdLst/>
              <a:ahLst/>
              <a:cxnLst/>
              <a:rect r="r" b="b" t="t" l="l"/>
              <a:pathLst>
                <a:path h="1576705" w="3339084">
                  <a:moveTo>
                    <a:pt x="0" y="0"/>
                  </a:moveTo>
                  <a:lnTo>
                    <a:pt x="3339084" y="0"/>
                  </a:lnTo>
                  <a:lnTo>
                    <a:pt x="3339084" y="1576705"/>
                  </a:lnTo>
                  <a:lnTo>
                    <a:pt x="0" y="1576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" r="0" b="-2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8033" y="4686300"/>
            <a:ext cx="1327261" cy="1327261"/>
            <a:chOff x="0" y="0"/>
            <a:chExt cx="1769682" cy="17696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69618" cy="1769618"/>
            </a:xfrm>
            <a:custGeom>
              <a:avLst/>
              <a:gdLst/>
              <a:ahLst/>
              <a:cxnLst/>
              <a:rect r="r" b="b" t="t" l="l"/>
              <a:pathLst>
                <a:path h="1769618" w="1769618">
                  <a:moveTo>
                    <a:pt x="0" y="0"/>
                  </a:moveTo>
                  <a:lnTo>
                    <a:pt x="1769618" y="0"/>
                  </a:lnTo>
                  <a:lnTo>
                    <a:pt x="1769618" y="1769618"/>
                  </a:lnTo>
                  <a:lnTo>
                    <a:pt x="0" y="176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3"/>
              </a:stretch>
            </a:blipFill>
          </p:spPr>
        </p:sp>
      </p:grpSp>
      <p:sp>
        <p:nvSpPr>
          <p:cNvPr name="AutoShape 24" id="24"/>
          <p:cNvSpPr/>
          <p:nvPr/>
        </p:nvSpPr>
        <p:spPr>
          <a:xfrm rot="-67140">
            <a:off x="1740484" y="5345163"/>
            <a:ext cx="48790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219570" y="6222587"/>
            <a:ext cx="1790805" cy="408280"/>
            <a:chOff x="0" y="0"/>
            <a:chExt cx="2387740" cy="5443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87727" cy="544322"/>
            </a:xfrm>
            <a:custGeom>
              <a:avLst/>
              <a:gdLst/>
              <a:ahLst/>
              <a:cxnLst/>
              <a:rect r="r" b="b" t="t" l="l"/>
              <a:pathLst>
                <a:path h="544322" w="2387727">
                  <a:moveTo>
                    <a:pt x="0" y="0"/>
                  </a:moveTo>
                  <a:lnTo>
                    <a:pt x="2387727" y="0"/>
                  </a:lnTo>
                  <a:lnTo>
                    <a:pt x="2387727" y="544322"/>
                  </a:lnTo>
                  <a:lnTo>
                    <a:pt x="0" y="544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967287" y="9845250"/>
            <a:ext cx="4267200" cy="561976"/>
            <a:chOff x="0" y="0"/>
            <a:chExt cx="5689600" cy="7493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7954" r="0" b="-979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3259" y="-5486"/>
            <a:ext cx="12154852" cy="141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087600" y="177356"/>
            <a:ext cx="2949454" cy="1232830"/>
            <a:chOff x="0" y="0"/>
            <a:chExt cx="3932606" cy="16437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32555" cy="1643761"/>
            </a:xfrm>
            <a:custGeom>
              <a:avLst/>
              <a:gdLst/>
              <a:ahLst/>
              <a:cxnLst/>
              <a:rect r="r" b="b" t="t" l="l"/>
              <a:pathLst>
                <a:path h="1643761" w="3932555">
                  <a:moveTo>
                    <a:pt x="0" y="0"/>
                  </a:moveTo>
                  <a:lnTo>
                    <a:pt x="3932555" y="0"/>
                  </a:lnTo>
                  <a:lnTo>
                    <a:pt x="3932555" y="1643761"/>
                  </a:lnTo>
                  <a:lnTo>
                    <a:pt x="0" y="1643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417" r="-1" b="-541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073944" y="9699307"/>
            <a:ext cx="24955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b="true" sz="18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151" y="1517856"/>
            <a:ext cx="16843353" cy="339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FEASIBIITY OF THE IDEA:-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💻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Core buildable with GPT-4, Firebase, React Native; advanced (mentor booking)- needs funding.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⚙️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Mentor/therapist partnerships viable.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📈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Post-COVID boom; demand for all-in-one, stigma-free mental health solutions.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✨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Differentiators: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Sentiment tracking, addiction test, mentor access.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💵 </a:t>
            </a: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Economic: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Lean MVP via open-source; revenue from subscriptions, premium counseling, partnerships..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" y="4642742"/>
            <a:ext cx="17747990" cy="21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🚨 Major Risks &amp; Solutions:-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Privacy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Risk of leaks → ✅ Encrypt, anonymize, ensure HIPAA/GDPR compliance.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Accuracy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Misread harmful emotions → ✅ Hybrid AI + human review, crisis support links.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Retention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Drop-off after excitement → ✅ Gamification, personalized insights, mentor/community support.</a:t>
            </a: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09550" y="6724650"/>
            <a:ext cx="17740370" cy="2596991"/>
            <a:chOff x="0" y="0"/>
            <a:chExt cx="23653826" cy="3462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653750" cy="3462655"/>
            </a:xfrm>
            <a:custGeom>
              <a:avLst/>
              <a:gdLst/>
              <a:ahLst/>
              <a:cxnLst/>
              <a:rect r="r" b="b" t="t" l="l"/>
              <a:pathLst>
                <a:path h="3462655" w="23653750">
                  <a:moveTo>
                    <a:pt x="0" y="577088"/>
                  </a:moveTo>
                  <a:cubicBezTo>
                    <a:pt x="0" y="258445"/>
                    <a:pt x="258445" y="0"/>
                    <a:pt x="577088" y="0"/>
                  </a:cubicBezTo>
                  <a:lnTo>
                    <a:pt x="23076663" y="0"/>
                  </a:lnTo>
                  <a:cubicBezTo>
                    <a:pt x="23395432" y="0"/>
                    <a:pt x="23653750" y="258445"/>
                    <a:pt x="23653750" y="577088"/>
                  </a:cubicBezTo>
                  <a:lnTo>
                    <a:pt x="23653750" y="2885567"/>
                  </a:lnTo>
                  <a:cubicBezTo>
                    <a:pt x="23653750" y="3204337"/>
                    <a:pt x="23395305" y="3462655"/>
                    <a:pt x="23076663" y="3462655"/>
                  </a:cubicBezTo>
                  <a:lnTo>
                    <a:pt x="577088" y="3462655"/>
                  </a:lnTo>
                  <a:cubicBezTo>
                    <a:pt x="258445" y="3462655"/>
                    <a:pt x="0" y="3204210"/>
                    <a:pt x="0" y="2885567"/>
                  </a:cubicBezTo>
                  <a:close/>
                </a:path>
              </a:pathLst>
            </a:custGeom>
            <a:solidFill>
              <a:srgbClr val="DDD9C3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3653826" cy="3481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                                        ⭐ </a:t>
              </a:r>
              <a:r>
                <a:rPr lang="en-US" sz="30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Supporting Facts for Feasibility and Viability</a:t>
              </a:r>
              <a:r>
                <a:rPr lang="en-US" sz="3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 ⭐ 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May 2022 IMARC survey found 61% of women and 55% of men in India use digital tools for mental well-being. The Indian mental health app market is projected to grow from $498M (2024) to $1.41B by 2030, CAGR 18.5%.</a:t>
              </a:r>
            </a:p>
          </p:txBody>
        </p:sp>
      </p:grpSp>
      <p:sp>
        <p:nvSpPr>
          <p:cNvPr name="Freeform 11" id="11" descr="Your startup LOGO"/>
          <p:cNvSpPr/>
          <p:nvPr/>
        </p:nvSpPr>
        <p:spPr>
          <a:xfrm flipH="false" flipV="false" rot="0">
            <a:off x="1248" y="83201"/>
            <a:ext cx="3513258" cy="1052236"/>
          </a:xfrm>
          <a:custGeom>
            <a:avLst/>
            <a:gdLst/>
            <a:ahLst/>
            <a:cxnLst/>
            <a:rect r="r" b="b" t="t" l="l"/>
            <a:pathLst>
              <a:path h="1052236" w="3513258">
                <a:moveTo>
                  <a:pt x="0" y="0"/>
                </a:moveTo>
                <a:lnTo>
                  <a:pt x="3513258" y="0"/>
                </a:lnTo>
                <a:lnTo>
                  <a:pt x="3513258" y="1052236"/>
                </a:lnTo>
                <a:lnTo>
                  <a:pt x="0" y="1052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77319"/>
            <a:ext cx="3489779" cy="1064000"/>
            <a:chOff x="0" y="0"/>
            <a:chExt cx="4653039" cy="14186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53041" cy="1418666"/>
            </a:xfrm>
            <a:custGeom>
              <a:avLst/>
              <a:gdLst/>
              <a:ahLst/>
              <a:cxnLst/>
              <a:rect r="r" b="b" t="t" l="l"/>
              <a:pathLst>
                <a:path h="1418666" w="4653041">
                  <a:moveTo>
                    <a:pt x="0" y="0"/>
                  </a:moveTo>
                  <a:lnTo>
                    <a:pt x="4653041" y="0"/>
                  </a:lnTo>
                  <a:lnTo>
                    <a:pt x="4653041" y="1418666"/>
                  </a:lnTo>
                  <a:lnTo>
                    <a:pt x="0" y="14186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08" r="0" b="-139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53039" cy="1475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Git_Commit_Win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727044"/>
            <a:ext cx="18288000" cy="535819"/>
            <a:chOff x="0" y="0"/>
            <a:chExt cx="24384000" cy="7144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714375"/>
            </a:xfrm>
            <a:custGeom>
              <a:avLst/>
              <a:gdLst/>
              <a:ahLst/>
              <a:cxnLst/>
              <a:rect r="r" b="b" t="t" l="l"/>
              <a:pathLst>
                <a:path h="7143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14375"/>
                  </a:lnTo>
                  <a:lnTo>
                    <a:pt x="0" y="714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9725" y="9727044"/>
            <a:ext cx="4806001" cy="561975"/>
            <a:chOff x="0" y="0"/>
            <a:chExt cx="6408001" cy="749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8001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1">
                  <a:moveTo>
                    <a:pt x="0" y="0"/>
                  </a:moveTo>
                  <a:lnTo>
                    <a:pt x="6408001" y="0"/>
                  </a:lnTo>
                  <a:lnTo>
                    <a:pt x="6408001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35" r="0" b="-1166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Git_Commit_Win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67287" y="9845250"/>
            <a:ext cx="4267200" cy="561976"/>
            <a:chOff x="0" y="0"/>
            <a:chExt cx="5689600" cy="7493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954" r="0" b="-979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04448" y="-28575"/>
            <a:ext cx="12154852" cy="141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659100" y="133264"/>
            <a:ext cx="2332225" cy="878586"/>
            <a:chOff x="0" y="0"/>
            <a:chExt cx="3109633" cy="1171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09595" cy="1171448"/>
            </a:xfrm>
            <a:custGeom>
              <a:avLst/>
              <a:gdLst/>
              <a:ahLst/>
              <a:cxnLst/>
              <a:rect r="r" b="b" t="t" l="l"/>
              <a:pathLst>
                <a:path h="1171448" w="3109595">
                  <a:moveTo>
                    <a:pt x="0" y="0"/>
                  </a:moveTo>
                  <a:lnTo>
                    <a:pt x="3109595" y="0"/>
                  </a:lnTo>
                  <a:lnTo>
                    <a:pt x="3109595" y="1171448"/>
                  </a:lnTo>
                  <a:lnTo>
                    <a:pt x="0" y="1171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488" r="-1" b="-1148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073944" y="9699307"/>
            <a:ext cx="24955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b="true" sz="18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200900" y="416881"/>
            <a:ext cx="11870331" cy="8424110"/>
            <a:chOff x="0" y="0"/>
            <a:chExt cx="15827108" cy="11232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27121" cy="11232134"/>
            </a:xfrm>
            <a:custGeom>
              <a:avLst/>
              <a:gdLst/>
              <a:ahLst/>
              <a:cxnLst/>
              <a:rect r="r" b="b" t="t" l="l"/>
              <a:pathLst>
                <a:path h="11232134" w="15827121">
                  <a:moveTo>
                    <a:pt x="0" y="0"/>
                  </a:moveTo>
                  <a:lnTo>
                    <a:pt x="15827121" y="0"/>
                  </a:lnTo>
                  <a:lnTo>
                    <a:pt x="15827121" y="11232134"/>
                  </a:lnTo>
                  <a:lnTo>
                    <a:pt x="0" y="11232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96094" y="1173594"/>
            <a:ext cx="7475220" cy="879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                       Potential Impact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Enhanced Mental Health Awareness: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gain insights into their emotions, mood patterns, and mental well-being through diary entries, mood tracking, and sentiment monitoring.</a:t>
            </a:r>
          </a:p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Early Detection of Harmful Emotions: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Harmful sentiments are identified early, helping prevent escalation of mental health issues.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Access to Support and Guidance: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Mentorship, counseling sessions, and a 24/7 AI chatbot provide emotional support and guidance anytime.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Encouragement of Positive Habits: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Streak tracking, gamified self-care activities, and resource hubs motivate consistent engagement and personal growth.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Self-Empowerment: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make informed decisions about their mental health and develop emotional resilience.</a:t>
            </a:r>
          </a:p>
          <a:p>
            <a:pPr algn="l" marL="488632" indent="-244316" lvl="1">
              <a:lnSpc>
                <a:spcPts val="324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410450" y="8391449"/>
            <a:ext cx="1866900" cy="266700"/>
            <a:chOff x="0" y="0"/>
            <a:chExt cx="2489200" cy="35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892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89200">
                  <a:moveTo>
                    <a:pt x="0" y="0"/>
                  </a:moveTo>
                  <a:lnTo>
                    <a:pt x="2489200" y="0"/>
                  </a:lnTo>
                  <a:lnTo>
                    <a:pt x="2489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1" id="11" descr="Your startup LOGO"/>
          <p:cNvSpPr/>
          <p:nvPr/>
        </p:nvSpPr>
        <p:spPr>
          <a:xfrm flipH="false" flipV="false" rot="0">
            <a:off x="1248" y="83201"/>
            <a:ext cx="3513258" cy="1052236"/>
          </a:xfrm>
          <a:custGeom>
            <a:avLst/>
            <a:gdLst/>
            <a:ahLst/>
            <a:cxnLst/>
            <a:rect r="r" b="b" t="t" l="l"/>
            <a:pathLst>
              <a:path h="1052236" w="3513258">
                <a:moveTo>
                  <a:pt x="0" y="0"/>
                </a:moveTo>
                <a:lnTo>
                  <a:pt x="3513258" y="0"/>
                </a:lnTo>
                <a:lnTo>
                  <a:pt x="3513258" y="1052236"/>
                </a:lnTo>
                <a:lnTo>
                  <a:pt x="0" y="1052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77319"/>
            <a:ext cx="3489779" cy="1064000"/>
            <a:chOff x="0" y="0"/>
            <a:chExt cx="4653039" cy="14186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53041" cy="1418666"/>
            </a:xfrm>
            <a:custGeom>
              <a:avLst/>
              <a:gdLst/>
              <a:ahLst/>
              <a:cxnLst/>
              <a:rect r="r" b="b" t="t" l="l"/>
              <a:pathLst>
                <a:path h="1418666" w="4653041">
                  <a:moveTo>
                    <a:pt x="0" y="0"/>
                  </a:moveTo>
                  <a:lnTo>
                    <a:pt x="4653041" y="0"/>
                  </a:lnTo>
                  <a:lnTo>
                    <a:pt x="4653041" y="1418666"/>
                  </a:lnTo>
                  <a:lnTo>
                    <a:pt x="0" y="14186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08" r="0" b="-139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53039" cy="1475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Git_Commit_Win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727044"/>
            <a:ext cx="18288000" cy="535819"/>
            <a:chOff x="0" y="0"/>
            <a:chExt cx="24384000" cy="7144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714375"/>
            </a:xfrm>
            <a:custGeom>
              <a:avLst/>
              <a:gdLst/>
              <a:ahLst/>
              <a:cxnLst/>
              <a:rect r="r" b="b" t="t" l="l"/>
              <a:pathLst>
                <a:path h="7143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14375"/>
                  </a:lnTo>
                  <a:lnTo>
                    <a:pt x="0" y="714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9725" y="9727044"/>
            <a:ext cx="4806001" cy="561975"/>
            <a:chOff x="0" y="0"/>
            <a:chExt cx="6408001" cy="749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8001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1">
                  <a:moveTo>
                    <a:pt x="0" y="0"/>
                  </a:moveTo>
                  <a:lnTo>
                    <a:pt x="6408001" y="0"/>
                  </a:lnTo>
                  <a:lnTo>
                    <a:pt x="6408001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6635" r="0" b="-1166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Git_Commit_Win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67287" y="9845250"/>
            <a:ext cx="4267200" cy="561976"/>
            <a:chOff x="0" y="0"/>
            <a:chExt cx="5689600" cy="7493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7954" r="0" b="-979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689600" cy="768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7751" y="2214515"/>
            <a:ext cx="7238695" cy="834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4658" indent="-151553" lvl="2">
              <a:lnSpc>
                <a:spcPts val="2638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Fragmentation: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Existing platforms deliver isolated interventions; HealHub integrates the full ecosystem.</a:t>
            </a:r>
          </a:p>
          <a:p>
            <a:pPr algn="l" marL="454658" indent="-151553" lvl="2">
              <a:lnSpc>
                <a:spcPts val="2638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Safety &amp; Oversight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Addresses current AI limitations regarding safety, hallucinations, and crisis escalation protocols.</a:t>
            </a:r>
          </a:p>
          <a:p>
            <a:pPr algn="l" marL="454658" indent="-151553" lvl="2">
              <a:lnSpc>
                <a:spcPts val="2638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Engagement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Moves from reactive/repetitive tools to predictive/adaptive behavioural intelligence.</a:t>
            </a:r>
          </a:p>
          <a:p>
            <a:pPr algn="l" marL="454658" indent="-151553" lvl="2">
              <a:lnSpc>
                <a:spcPts val="2638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Longitudinal Intelligence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Continuous emotional profiling vs. independent, isolated interactions.</a:t>
            </a:r>
          </a:p>
          <a:p>
            <a:pPr algn="l" marL="454658" indent="-151553" lvl="2">
              <a:lnSpc>
                <a:spcPts val="2638"/>
              </a:lnSpc>
            </a:pPr>
          </a:p>
          <a:p>
            <a:pPr algn="l" marL="707245" indent="-235748" lvl="2">
              <a:lnSpc>
                <a:spcPts val="2638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References</a:t>
            </a:r>
          </a:p>
          <a:p>
            <a:pPr algn="l" marL="454658" indent="-151553" lvl="2">
              <a:lnSpc>
                <a:spcPts val="2638"/>
              </a:lnSpc>
            </a:pPr>
          </a:p>
          <a:p>
            <a:pPr algn="l" marL="454658" indent="-151553" lvl="2">
              <a:lnSpc>
                <a:spcPts val="2638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Primary Academic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 marL="850474" indent="-212619" lvl="3">
              <a:lnSpc>
                <a:spcPts val="2638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“Artificial Intelligence-Enabled Chatbots in Mental Health: A Systematic Review”</a:t>
            </a:r>
          </a:p>
          <a:p>
            <a:pPr algn="l" marL="850474" indent="-212619" lvl="3">
              <a:lnSpc>
                <a:spcPts val="2638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Authors: Batyrkhan Omarov, Sergazi Narynov, Zhandos Zhumanov (August 2025)</a:t>
            </a:r>
          </a:p>
          <a:p>
            <a:pPr algn="l" marL="850474" indent="-212619" lvl="3">
              <a:lnSpc>
                <a:spcPts val="2638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DOI: 10.32604/cmc.2023.034655</a:t>
            </a:r>
          </a:p>
          <a:p>
            <a:pPr algn="l" marL="454658" indent="-151553" lvl="2">
              <a:lnSpc>
                <a:spcPts val="2638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Market Data:</a:t>
            </a:r>
          </a:p>
          <a:p>
            <a:pPr algn="l" marL="850474" indent="-212619" lvl="3">
              <a:lnSpc>
                <a:spcPts val="2638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IMARC Survey (May 2022): 61% of women/55% of men in India utilize digital mental health tools.</a:t>
            </a:r>
          </a:p>
          <a:p>
            <a:pPr algn="l" marL="850474" indent="-212619" lvl="3">
              <a:lnSpc>
                <a:spcPts val="2638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Projected growth: Indian mental health app market from $498M (2024) to $1.41B (2030), CAGR 18.5%.</a:t>
            </a:r>
          </a:p>
          <a:p>
            <a:pPr algn="l" marL="850474" indent="-212619" lvl="3">
              <a:lnSpc>
                <a:spcPts val="2638"/>
              </a:lnSpc>
            </a:pPr>
          </a:p>
          <a:p>
            <a:pPr algn="l" marL="850474" indent="-212619" lvl="3">
              <a:lnSpc>
                <a:spcPts val="2638"/>
              </a:lnSpc>
            </a:pPr>
          </a:p>
          <a:p>
            <a:pPr algn="l" marL="850474" indent="-212619" lvl="3">
              <a:lnSpc>
                <a:spcPts val="2638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727044"/>
            <a:ext cx="18288000" cy="535819"/>
            <a:chOff x="0" y="0"/>
            <a:chExt cx="24384000" cy="7144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14375"/>
            </a:xfrm>
            <a:custGeom>
              <a:avLst/>
              <a:gdLst/>
              <a:ahLst/>
              <a:cxnLst/>
              <a:rect r="r" b="b" t="t" l="l"/>
              <a:pathLst>
                <a:path h="7143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14375"/>
                  </a:lnTo>
                  <a:lnTo>
                    <a:pt x="0" y="714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126580" y="1820589"/>
            <a:ext cx="7107907" cy="6364796"/>
          </a:xfrm>
          <a:custGeom>
            <a:avLst/>
            <a:gdLst/>
            <a:ahLst/>
            <a:cxnLst/>
            <a:rect r="r" b="b" t="t" l="l"/>
            <a:pathLst>
              <a:path h="6364796" w="7107907">
                <a:moveTo>
                  <a:pt x="0" y="0"/>
                </a:moveTo>
                <a:lnTo>
                  <a:pt x="7107907" y="0"/>
                </a:lnTo>
                <a:lnTo>
                  <a:pt x="7107907" y="6364796"/>
                </a:lnTo>
                <a:lnTo>
                  <a:pt x="0" y="6364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27363" y="-134426"/>
            <a:ext cx="16459200" cy="1714500"/>
            <a:chOff x="0" y="0"/>
            <a:chExt cx="219456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3884" y="-272263"/>
            <a:ext cx="16459200" cy="1735931"/>
            <a:chOff x="0" y="0"/>
            <a:chExt cx="21945600" cy="2314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67287" y="9859537"/>
            <a:ext cx="4267200" cy="547688"/>
            <a:chOff x="0" y="0"/>
            <a:chExt cx="568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967287" y="9845250"/>
            <a:ext cx="4267200" cy="561975"/>
            <a:chOff x="0" y="0"/>
            <a:chExt cx="5689600" cy="749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33187" y="9859537"/>
            <a:ext cx="4806001" cy="547688"/>
            <a:chOff x="0" y="0"/>
            <a:chExt cx="6408001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864" r="0" b="-12086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89725" y="9727044"/>
            <a:ext cx="4806001" cy="561975"/>
            <a:chOff x="0" y="0"/>
            <a:chExt cx="6408001" cy="749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8001" cy="749301"/>
            </a:xfrm>
            <a:custGeom>
              <a:avLst/>
              <a:gdLst/>
              <a:ahLst/>
              <a:cxnLst/>
              <a:rect r="r" b="b" t="t" l="l"/>
              <a:pathLst>
                <a:path h="749301" w="6408001">
                  <a:moveTo>
                    <a:pt x="0" y="0"/>
                  </a:moveTo>
                  <a:lnTo>
                    <a:pt x="6408001" y="0"/>
                  </a:lnTo>
                  <a:lnTo>
                    <a:pt x="6408001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35" r="0" b="-1166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Git_Commit_Win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09076" y="0"/>
            <a:ext cx="2589609" cy="1191406"/>
            <a:chOff x="0" y="0"/>
            <a:chExt cx="3452812" cy="15885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52876" cy="1588516"/>
            </a:xfrm>
            <a:custGeom>
              <a:avLst/>
              <a:gdLst/>
              <a:ahLst/>
              <a:cxnLst/>
              <a:rect r="r" b="b" t="t" l="l"/>
              <a:pathLst>
                <a:path h="1588516" w="3452876">
                  <a:moveTo>
                    <a:pt x="0" y="0"/>
                  </a:moveTo>
                  <a:lnTo>
                    <a:pt x="3452876" y="0"/>
                  </a:lnTo>
                  <a:lnTo>
                    <a:pt x="3452876" y="1588516"/>
                  </a:lnTo>
                  <a:lnTo>
                    <a:pt x="0" y="1588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39" r="1" b="-134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03884" y="2026758"/>
            <a:ext cx="5434003" cy="4356154"/>
          </a:xfrm>
          <a:custGeom>
            <a:avLst/>
            <a:gdLst/>
            <a:ahLst/>
            <a:cxnLst/>
            <a:rect r="r" b="b" t="t" l="l"/>
            <a:pathLst>
              <a:path h="4356154" w="5434003">
                <a:moveTo>
                  <a:pt x="0" y="0"/>
                </a:moveTo>
                <a:lnTo>
                  <a:pt x="5434003" y="0"/>
                </a:lnTo>
                <a:lnTo>
                  <a:pt x="5434003" y="4356154"/>
                </a:lnTo>
                <a:lnTo>
                  <a:pt x="0" y="43561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4163520" y="5143500"/>
            <a:ext cx="545278" cy="616477"/>
          </a:xfrm>
          <a:custGeom>
            <a:avLst/>
            <a:gdLst/>
            <a:ahLst/>
            <a:cxnLst/>
            <a:rect r="r" b="b" t="t" l="l"/>
            <a:pathLst>
              <a:path h="616477" w="545278">
                <a:moveTo>
                  <a:pt x="545278" y="0"/>
                </a:moveTo>
                <a:lnTo>
                  <a:pt x="0" y="0"/>
                </a:lnTo>
                <a:lnTo>
                  <a:pt x="0" y="616477"/>
                </a:lnTo>
                <a:lnTo>
                  <a:pt x="545278" y="616477"/>
                </a:lnTo>
                <a:lnTo>
                  <a:pt x="54527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007" t="0" r="-10007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796255" y="1383325"/>
            <a:ext cx="734530" cy="776564"/>
          </a:xfrm>
          <a:custGeom>
            <a:avLst/>
            <a:gdLst/>
            <a:ahLst/>
            <a:cxnLst/>
            <a:rect r="r" b="b" t="t" l="l"/>
            <a:pathLst>
              <a:path h="776564" w="734530">
                <a:moveTo>
                  <a:pt x="0" y="0"/>
                </a:moveTo>
                <a:lnTo>
                  <a:pt x="734530" y="0"/>
                </a:lnTo>
                <a:lnTo>
                  <a:pt x="734530" y="776564"/>
                </a:lnTo>
                <a:lnTo>
                  <a:pt x="0" y="7765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216" t="0" r="-2216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3212" y="1616526"/>
            <a:ext cx="4172588" cy="123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9"/>
              </a:lnSpc>
            </a:pPr>
            <a:r>
              <a:rPr lang="en-US" sz="320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Gap</a:t>
            </a:r>
          </a:p>
          <a:p>
            <a:pPr algn="ctr">
              <a:lnSpc>
                <a:spcPts val="4489"/>
              </a:lnSpc>
            </a:pPr>
          </a:p>
        </p:txBody>
      </p:sp>
      <p:sp>
        <p:nvSpPr>
          <p:cNvPr name="Freeform 27" id="27" descr="Your startup LOGO"/>
          <p:cNvSpPr/>
          <p:nvPr/>
        </p:nvSpPr>
        <p:spPr>
          <a:xfrm flipH="false" flipV="false" rot="0">
            <a:off x="0" y="69585"/>
            <a:ext cx="3513258" cy="1052236"/>
          </a:xfrm>
          <a:custGeom>
            <a:avLst/>
            <a:gdLst/>
            <a:ahLst/>
            <a:cxnLst/>
            <a:rect r="r" b="b" t="t" l="l"/>
            <a:pathLst>
              <a:path h="1052236" w="3513258">
                <a:moveTo>
                  <a:pt x="0" y="0"/>
                </a:moveTo>
                <a:lnTo>
                  <a:pt x="3513258" y="0"/>
                </a:lnTo>
                <a:lnTo>
                  <a:pt x="3513258" y="1052236"/>
                </a:lnTo>
                <a:lnTo>
                  <a:pt x="0" y="10522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0" y="0"/>
            <a:ext cx="3489779" cy="1064000"/>
            <a:chOff x="0" y="0"/>
            <a:chExt cx="4653039" cy="14186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53041" cy="1418666"/>
            </a:xfrm>
            <a:custGeom>
              <a:avLst/>
              <a:gdLst/>
              <a:ahLst/>
              <a:cxnLst/>
              <a:rect r="r" b="b" t="t" l="l"/>
              <a:pathLst>
                <a:path h="1418666" w="4653041">
                  <a:moveTo>
                    <a:pt x="0" y="0"/>
                  </a:moveTo>
                  <a:lnTo>
                    <a:pt x="4653041" y="0"/>
                  </a:lnTo>
                  <a:lnTo>
                    <a:pt x="4653041" y="1418666"/>
                  </a:lnTo>
                  <a:lnTo>
                    <a:pt x="0" y="14186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08" r="0" b="-139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4653039" cy="1475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Git_Commit_Win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72196" y="612038"/>
            <a:ext cx="8836185" cy="9115006"/>
            <a:chOff x="0" y="0"/>
            <a:chExt cx="11781580" cy="121533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81555" cy="12153392"/>
            </a:xfrm>
            <a:custGeom>
              <a:avLst/>
              <a:gdLst/>
              <a:ahLst/>
              <a:cxnLst/>
              <a:rect r="r" b="b" t="t" l="l"/>
              <a:pathLst>
                <a:path h="12153392" w="11781555">
                  <a:moveTo>
                    <a:pt x="0" y="0"/>
                  </a:moveTo>
                  <a:lnTo>
                    <a:pt x="11781555" y="0"/>
                  </a:lnTo>
                  <a:lnTo>
                    <a:pt x="11781555" y="12153392"/>
                  </a:lnTo>
                  <a:lnTo>
                    <a:pt x="0" y="12153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3032" r="0" b="-303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DAHUQq7Wa_c</dc:identifier>
  <dcterms:modified xsi:type="dcterms:W3CDTF">2011-08-01T06:04:30Z</dcterms:modified>
  <cp:revision>1</cp:revision>
  <dc:title>SIH FINAL</dc:title>
</cp:coreProperties>
</file>